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eorgia Bold" charset="1" panose="02040802050405020203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4"/>
    </p:embeddedFont>
    <p:embeddedFont>
      <p:font typeface="Georgia Italics" charset="1" panose="020405020504050903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5863" y="-12697"/>
            <a:ext cx="6974843" cy="5877563"/>
            <a:chOff x="0" y="0"/>
            <a:chExt cx="9299791" cy="7836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265920" cy="7802881"/>
            </a:xfrm>
            <a:custGeom>
              <a:avLst/>
              <a:gdLst/>
              <a:ahLst/>
              <a:cxnLst/>
              <a:rect r="r" b="b" t="t" l="l"/>
              <a:pathLst>
                <a:path h="7802881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065A82">
                <a:alpha val="80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99701" cy="7836662"/>
            </a:xfrm>
            <a:custGeom>
              <a:avLst/>
              <a:gdLst/>
              <a:ahLst/>
              <a:cxnLst/>
              <a:rect r="r" b="b" t="t" l="l"/>
              <a:pathLst>
                <a:path h="7836662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7819772"/>
                  </a:lnTo>
                  <a:cubicBezTo>
                    <a:pt x="9299701" y="7829169"/>
                    <a:pt x="9292082" y="7836662"/>
                    <a:pt x="928281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9282811" y="7802880"/>
                  </a:lnTo>
                  <a:lnTo>
                    <a:pt x="9282811" y="7819772"/>
                  </a:lnTo>
                  <a:lnTo>
                    <a:pt x="9265920" y="7819772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-12697"/>
            <a:ext cx="4597403" cy="10312403"/>
            <a:chOff x="0" y="0"/>
            <a:chExt cx="61298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2E3D">
                <a:alpha val="6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732890"/>
                  </a:lnTo>
                  <a:cubicBezTo>
                    <a:pt x="6129782" y="13742290"/>
                    <a:pt x="6122162" y="13749782"/>
                    <a:pt x="6112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112891" y="13716000"/>
                  </a:lnTo>
                  <a:lnTo>
                    <a:pt x="6112891" y="13732890"/>
                  </a:lnTo>
                  <a:lnTo>
                    <a:pt x="6096000" y="13732890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23143" y="535943"/>
            <a:ext cx="135131" cy="135131"/>
            <a:chOff x="0" y="0"/>
            <a:chExt cx="180175" cy="180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25479" y="535943"/>
            <a:ext cx="135131" cy="135131"/>
            <a:chOff x="0" y="0"/>
            <a:chExt cx="180175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27815" y="535943"/>
            <a:ext cx="135131" cy="135131"/>
            <a:chOff x="0" y="0"/>
            <a:chExt cx="180175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30151" y="535943"/>
            <a:ext cx="135131" cy="135131"/>
            <a:chOff x="0" y="0"/>
            <a:chExt cx="180175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2487" y="535943"/>
            <a:ext cx="135131" cy="135131"/>
            <a:chOff x="0" y="0"/>
            <a:chExt cx="180175" cy="180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23143" y="938279"/>
            <a:ext cx="135131" cy="135131"/>
            <a:chOff x="0" y="0"/>
            <a:chExt cx="180175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25479" y="938279"/>
            <a:ext cx="135131" cy="135131"/>
            <a:chOff x="0" y="0"/>
            <a:chExt cx="180175" cy="180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227815" y="938279"/>
            <a:ext cx="135131" cy="135131"/>
            <a:chOff x="0" y="0"/>
            <a:chExt cx="180175" cy="180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630151" y="938279"/>
            <a:ext cx="135131" cy="135131"/>
            <a:chOff x="0" y="0"/>
            <a:chExt cx="180175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032487" y="938279"/>
            <a:ext cx="135131" cy="135131"/>
            <a:chOff x="0" y="0"/>
            <a:chExt cx="180175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23143" y="1340615"/>
            <a:ext cx="135131" cy="135131"/>
            <a:chOff x="0" y="0"/>
            <a:chExt cx="180175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25479" y="1340615"/>
            <a:ext cx="135131" cy="135131"/>
            <a:chOff x="0" y="0"/>
            <a:chExt cx="180175" cy="180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227815" y="1340615"/>
            <a:ext cx="135131" cy="135131"/>
            <a:chOff x="0" y="0"/>
            <a:chExt cx="180175" cy="1801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630151" y="1340615"/>
            <a:ext cx="135131" cy="135131"/>
            <a:chOff x="0" y="0"/>
            <a:chExt cx="180175" cy="1801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32487" y="1340615"/>
            <a:ext cx="135131" cy="135131"/>
            <a:chOff x="0" y="0"/>
            <a:chExt cx="180175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23143" y="1742951"/>
            <a:ext cx="135131" cy="135131"/>
            <a:chOff x="0" y="0"/>
            <a:chExt cx="180175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25479" y="1742951"/>
            <a:ext cx="135131" cy="135131"/>
            <a:chOff x="0" y="0"/>
            <a:chExt cx="180175" cy="1801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227815" y="1742951"/>
            <a:ext cx="135131" cy="135131"/>
            <a:chOff x="0" y="0"/>
            <a:chExt cx="180175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30151" y="1742951"/>
            <a:ext cx="135131" cy="135131"/>
            <a:chOff x="0" y="0"/>
            <a:chExt cx="180175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032487" y="1742951"/>
            <a:ext cx="135131" cy="135131"/>
            <a:chOff x="0" y="0"/>
            <a:chExt cx="180175" cy="1801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423143" y="2145287"/>
            <a:ext cx="135131" cy="135131"/>
            <a:chOff x="0" y="0"/>
            <a:chExt cx="180175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25479" y="2145287"/>
            <a:ext cx="135131" cy="135131"/>
            <a:chOff x="0" y="0"/>
            <a:chExt cx="180175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227815" y="2145287"/>
            <a:ext cx="135131" cy="135131"/>
            <a:chOff x="0" y="0"/>
            <a:chExt cx="180175" cy="1801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630151" y="2145287"/>
            <a:ext cx="135131" cy="135131"/>
            <a:chOff x="0" y="0"/>
            <a:chExt cx="180175" cy="1801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032487" y="2145287"/>
            <a:ext cx="135131" cy="135131"/>
            <a:chOff x="0" y="0"/>
            <a:chExt cx="180175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23143" y="2547623"/>
            <a:ext cx="135131" cy="135131"/>
            <a:chOff x="0" y="0"/>
            <a:chExt cx="180175" cy="1801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825479" y="2547623"/>
            <a:ext cx="135131" cy="135131"/>
            <a:chOff x="0" y="0"/>
            <a:chExt cx="180175" cy="1801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227815" y="2547623"/>
            <a:ext cx="135131" cy="135131"/>
            <a:chOff x="0" y="0"/>
            <a:chExt cx="180175" cy="1801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630151" y="2547623"/>
            <a:ext cx="135131" cy="135131"/>
            <a:chOff x="0" y="0"/>
            <a:chExt cx="180175" cy="1801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032487" y="2547623"/>
            <a:ext cx="135131" cy="135131"/>
            <a:chOff x="0" y="0"/>
            <a:chExt cx="180175" cy="180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01703" y="1633223"/>
            <a:ext cx="1214123" cy="1214123"/>
            <a:chOff x="0" y="0"/>
            <a:chExt cx="1618831" cy="16188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249"/>
                    <a:pt x="0" y="792480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lnTo>
                    <a:pt x="809371" y="16891"/>
                  </a:lnTo>
                  <a:lnTo>
                    <a:pt x="809371" y="0"/>
                  </a:ln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lnTo>
                    <a:pt x="809371" y="1601851"/>
                  </a:lnTo>
                  <a:lnTo>
                    <a:pt x="809371" y="1618742"/>
                  </a:lnTo>
                  <a:cubicBezTo>
                    <a:pt x="362331" y="1618869"/>
                    <a:pt x="0" y="1256411"/>
                    <a:pt x="0" y="809371"/>
                  </a:cubicBezTo>
                  <a:lnTo>
                    <a:pt x="16891" y="809371"/>
                  </a:lnTo>
                  <a:lnTo>
                    <a:pt x="31242" y="818388"/>
                  </a:lnTo>
                  <a:cubicBezTo>
                    <a:pt x="27178" y="824738"/>
                    <a:pt x="19431" y="827659"/>
                    <a:pt x="12192" y="825627"/>
                  </a:cubicBezTo>
                  <a:cubicBezTo>
                    <a:pt x="4953" y="823595"/>
                    <a:pt x="0" y="816991"/>
                    <a:pt x="0" y="809371"/>
                  </a:cubicBezTo>
                  <a:moveTo>
                    <a:pt x="33909" y="809371"/>
                  </a:moveTo>
                  <a:lnTo>
                    <a:pt x="16891" y="809371"/>
                  </a:lnTo>
                  <a:lnTo>
                    <a:pt x="2667" y="800354"/>
                  </a:lnTo>
                  <a:cubicBezTo>
                    <a:pt x="6731" y="794004"/>
                    <a:pt x="14478" y="791083"/>
                    <a:pt x="21717" y="793115"/>
                  </a:cubicBezTo>
                  <a:cubicBezTo>
                    <a:pt x="28956" y="795147"/>
                    <a:pt x="33909" y="801878"/>
                    <a:pt x="33909" y="809371"/>
                  </a:cubicBezTo>
                  <a:cubicBezTo>
                    <a:pt x="33909" y="1237742"/>
                    <a:pt x="381127" y="1584960"/>
                    <a:pt x="809498" y="1584960"/>
                  </a:cubicBezTo>
                  <a:cubicBezTo>
                    <a:pt x="1237869" y="1584960"/>
                    <a:pt x="1585087" y="1237742"/>
                    <a:pt x="1585087" y="809371"/>
                  </a:cubicBezTo>
                  <a:lnTo>
                    <a:pt x="1601978" y="809371"/>
                  </a:lnTo>
                  <a:lnTo>
                    <a:pt x="1585087" y="809371"/>
                  </a:lnTo>
                  <a:cubicBezTo>
                    <a:pt x="1585087" y="381000"/>
                    <a:pt x="1237869" y="33782"/>
                    <a:pt x="809498" y="33782"/>
                  </a:cubicBezTo>
                  <a:lnTo>
                    <a:pt x="809498" y="16891"/>
                  </a:lnTo>
                  <a:lnTo>
                    <a:pt x="809498" y="33909"/>
                  </a:lnTo>
                  <a:cubicBezTo>
                    <a:pt x="381127" y="33909"/>
                    <a:pt x="33909" y="381127"/>
                    <a:pt x="33909" y="80937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14400" y="1645920"/>
            <a:ext cx="1188720" cy="1188720"/>
            <a:chOff x="0" y="0"/>
            <a:chExt cx="158496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58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14400" y="914400"/>
            <a:ext cx="10972800" cy="548640"/>
            <a:chOff x="0" y="0"/>
            <a:chExt cx="1463040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8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HS-202  |  HUMAN GEOGRAPHY AND SOCIAL NEEDS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005840" y="2701804"/>
            <a:ext cx="10789920" cy="613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Sustainable</a:t>
            </a:r>
          </a:p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Water</a:t>
            </a:r>
          </a:p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Management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901703" y="7942583"/>
            <a:ext cx="1488443" cy="153419"/>
            <a:chOff x="0" y="0"/>
            <a:chExt cx="1984591" cy="20455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1950720" cy="170688"/>
            </a:xfrm>
            <a:custGeom>
              <a:avLst/>
              <a:gdLst/>
              <a:ahLst/>
              <a:cxnLst/>
              <a:rect r="r" b="b" t="t" l="l"/>
              <a:pathLst>
                <a:path h="17068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84502" cy="204472"/>
            </a:xfrm>
            <a:custGeom>
              <a:avLst/>
              <a:gdLst/>
              <a:ahLst/>
              <a:cxnLst/>
              <a:rect r="r" b="b" t="t" l="l"/>
              <a:pathLst>
                <a:path h="204472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87579"/>
                  </a:lnTo>
                  <a:cubicBezTo>
                    <a:pt x="1984502" y="196977"/>
                    <a:pt x="1976882" y="204470"/>
                    <a:pt x="196761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967611" y="170688"/>
                  </a:lnTo>
                  <a:lnTo>
                    <a:pt x="1967611" y="187579"/>
                  </a:lnTo>
                  <a:lnTo>
                    <a:pt x="1950720" y="187579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14400" y="8321040"/>
            <a:ext cx="9144000" cy="548640"/>
            <a:chOff x="0" y="0"/>
            <a:chExt cx="1219200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12192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499">
                  <a:solidFill>
                    <a:srgbClr val="8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2  |  PRESENTED BY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914400" y="9003030"/>
            <a:ext cx="343465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pc="499" strike="noStrike" u="none">
                <a:solidFill>
                  <a:srgbClr val="8A9BAD"/>
                </a:solidFill>
                <a:latin typeface="Calibri (MS)"/>
                <a:ea typeface="Calibri (MS)"/>
                <a:cs typeface="Calibri (MS)"/>
                <a:sym typeface="Calibri (MS)"/>
              </a:rPr>
              <a:t>AKSHIT KUMAR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pc="499" strike="noStrike" u="none">
                <a:solidFill>
                  <a:srgbClr val="8A9BAD"/>
                </a:solidFill>
                <a:latin typeface="Calibri (MS)"/>
                <a:ea typeface="Calibri (MS)"/>
                <a:cs typeface="Calibri (MS)"/>
                <a:sym typeface="Calibri (MS)"/>
              </a:rPr>
              <a:t>RITHWIK CHANDER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2659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99701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3732890"/>
                  </a:lnTo>
                  <a:cubicBezTo>
                    <a:pt x="9299701" y="13742290"/>
                    <a:pt x="9292082" y="13749782"/>
                    <a:pt x="92828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9282811" y="13716000"/>
                  </a:lnTo>
                  <a:lnTo>
                    <a:pt x="9282811" y="13732890"/>
                  </a:lnTo>
                  <a:lnTo>
                    <a:pt x="9265920" y="13732890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48640" y="1864995"/>
            <a:ext cx="5852160" cy="266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68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THE</a:t>
            </a:r>
          </a:p>
          <a:p>
            <a:pPr algn="l">
              <a:lnSpc>
                <a:spcPts val="8159"/>
              </a:lnSpc>
            </a:pPr>
            <a:r>
              <a:rPr lang="en-US" sz="68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PROBLEM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44503" y="4833623"/>
            <a:ext cx="1122683" cy="135131"/>
            <a:chOff x="0" y="0"/>
            <a:chExt cx="1496911" cy="180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463040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822" cy="180088"/>
            </a:xfrm>
            <a:custGeom>
              <a:avLst/>
              <a:gdLst/>
              <a:ahLst/>
              <a:cxnLst/>
              <a:rect r="r" b="b" t="t" l="l"/>
              <a:pathLst>
                <a:path h="18008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63195"/>
                  </a:lnTo>
                  <a:cubicBezTo>
                    <a:pt x="1496822" y="172593"/>
                    <a:pt x="1489202" y="180086"/>
                    <a:pt x="14799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79931" y="146304"/>
                  </a:lnTo>
                  <a:lnTo>
                    <a:pt x="1479931" y="163195"/>
                  </a:lnTo>
                  <a:lnTo>
                    <a:pt x="1463040" y="163195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8640" y="5210175"/>
            <a:ext cx="5852160" cy="215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9BB5C3"/>
                </a:solidFill>
                <a:latin typeface="Calibri (MS)"/>
                <a:ea typeface="Calibri (MS)"/>
                <a:cs typeface="Calibri (MS)"/>
                <a:sym typeface="Calibri (MS)"/>
              </a:rPr>
              <a:t>Water scarcity is not uniform — it varies by climate, geography, and resource availability.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85383" y="810263"/>
            <a:ext cx="10358123" cy="2677163"/>
            <a:chOff x="0" y="0"/>
            <a:chExt cx="13810831" cy="3569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3776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776960">
                  <a:moveTo>
                    <a:pt x="0" y="0"/>
                  </a:moveTo>
                  <a:lnTo>
                    <a:pt x="13776960" y="0"/>
                  </a:lnTo>
                  <a:lnTo>
                    <a:pt x="13776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10743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810743">
                  <a:moveTo>
                    <a:pt x="16891" y="0"/>
                  </a:moveTo>
                  <a:lnTo>
                    <a:pt x="13793851" y="0"/>
                  </a:lnTo>
                  <a:cubicBezTo>
                    <a:pt x="13803249" y="0"/>
                    <a:pt x="13810743" y="7620"/>
                    <a:pt x="13810743" y="16891"/>
                  </a:cubicBezTo>
                  <a:lnTo>
                    <a:pt x="13810743" y="3552571"/>
                  </a:lnTo>
                  <a:cubicBezTo>
                    <a:pt x="13810743" y="3561969"/>
                    <a:pt x="13803123" y="3569462"/>
                    <a:pt x="13793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793851" y="3535680"/>
                  </a:lnTo>
                  <a:lnTo>
                    <a:pt x="13793851" y="3552571"/>
                  </a:lnTo>
                  <a:lnTo>
                    <a:pt x="13776961" y="3552571"/>
                  </a:lnTo>
                  <a:lnTo>
                    <a:pt x="13776961" y="16891"/>
                  </a:lnTo>
                  <a:lnTo>
                    <a:pt x="13793851" y="16891"/>
                  </a:lnTo>
                  <a:lnTo>
                    <a:pt x="1379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485383" y="810263"/>
            <a:ext cx="244859" cy="2677163"/>
            <a:chOff x="0" y="0"/>
            <a:chExt cx="326479" cy="3569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92608" cy="3535680"/>
            </a:xfrm>
            <a:custGeom>
              <a:avLst/>
              <a:gdLst/>
              <a:ahLst/>
              <a:cxnLst/>
              <a:rect r="r" b="b" t="t" l="l"/>
              <a:pathLst>
                <a:path h="3535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6390" cy="3569462"/>
            </a:xfrm>
            <a:custGeom>
              <a:avLst/>
              <a:gdLst/>
              <a:ahLst/>
              <a:cxnLst/>
              <a:rect r="r" b="b" t="t" l="l"/>
              <a:pathLst>
                <a:path h="35694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552571"/>
                  </a:lnTo>
                  <a:cubicBezTo>
                    <a:pt x="326390" y="3561969"/>
                    <a:pt x="318770" y="3569462"/>
                    <a:pt x="30949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309499" y="3535680"/>
                  </a:lnTo>
                  <a:lnTo>
                    <a:pt x="309499" y="3552571"/>
                  </a:lnTo>
                  <a:lnTo>
                    <a:pt x="292608" y="3552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46720" y="1042416"/>
            <a:ext cx="4572000" cy="1188720"/>
            <a:chOff x="0" y="0"/>
            <a:chExt cx="6096000" cy="158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65%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46720" y="2322576"/>
            <a:ext cx="9509760" cy="731520"/>
            <a:chOff x="0" y="0"/>
            <a:chExt cx="126796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679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Face irregular water supply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85383" y="3827783"/>
            <a:ext cx="10358123" cy="2677163"/>
            <a:chOff x="0" y="0"/>
            <a:chExt cx="13810831" cy="3569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3776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776960">
                  <a:moveTo>
                    <a:pt x="0" y="0"/>
                  </a:moveTo>
                  <a:lnTo>
                    <a:pt x="13776960" y="0"/>
                  </a:lnTo>
                  <a:lnTo>
                    <a:pt x="13776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10743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810743">
                  <a:moveTo>
                    <a:pt x="16891" y="0"/>
                  </a:moveTo>
                  <a:lnTo>
                    <a:pt x="13793851" y="0"/>
                  </a:lnTo>
                  <a:cubicBezTo>
                    <a:pt x="13803249" y="0"/>
                    <a:pt x="13810743" y="7620"/>
                    <a:pt x="13810743" y="16891"/>
                  </a:cubicBezTo>
                  <a:lnTo>
                    <a:pt x="13810743" y="3552571"/>
                  </a:lnTo>
                  <a:cubicBezTo>
                    <a:pt x="13810743" y="3561969"/>
                    <a:pt x="13803123" y="3569462"/>
                    <a:pt x="13793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793851" y="3535680"/>
                  </a:lnTo>
                  <a:lnTo>
                    <a:pt x="13793851" y="3552571"/>
                  </a:lnTo>
                  <a:lnTo>
                    <a:pt x="13776961" y="3552571"/>
                  </a:lnTo>
                  <a:lnTo>
                    <a:pt x="13776961" y="16891"/>
                  </a:lnTo>
                  <a:lnTo>
                    <a:pt x="13793851" y="16891"/>
                  </a:lnTo>
                  <a:lnTo>
                    <a:pt x="1379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85383" y="3827783"/>
            <a:ext cx="244859" cy="2677163"/>
            <a:chOff x="0" y="0"/>
            <a:chExt cx="326479" cy="35695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92608" cy="3535680"/>
            </a:xfrm>
            <a:custGeom>
              <a:avLst/>
              <a:gdLst/>
              <a:ahLst/>
              <a:cxnLst/>
              <a:rect r="r" b="b" t="t" l="l"/>
              <a:pathLst>
                <a:path h="3535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390" cy="3569462"/>
            </a:xfrm>
            <a:custGeom>
              <a:avLst/>
              <a:gdLst/>
              <a:ahLst/>
              <a:cxnLst/>
              <a:rect r="r" b="b" t="t" l="l"/>
              <a:pathLst>
                <a:path h="35694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552571"/>
                  </a:lnTo>
                  <a:cubicBezTo>
                    <a:pt x="326390" y="3561969"/>
                    <a:pt x="318770" y="3569462"/>
                    <a:pt x="30949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309499" y="3535680"/>
                  </a:lnTo>
                  <a:lnTo>
                    <a:pt x="309499" y="3552571"/>
                  </a:lnTo>
                  <a:lnTo>
                    <a:pt x="292608" y="3552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046720" y="4059936"/>
            <a:ext cx="4572000" cy="1367730"/>
            <a:chOff x="0" y="0"/>
            <a:chExt cx="6096000" cy="18236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1823641"/>
            </a:xfrm>
            <a:custGeom>
              <a:avLst/>
              <a:gdLst/>
              <a:ahLst/>
              <a:cxnLst/>
              <a:rect r="r" b="b" t="t" l="l"/>
              <a:pathLst>
                <a:path h="1823641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823641"/>
                  </a:lnTo>
                  <a:lnTo>
                    <a:pt x="0" y="1823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77" r="0" b="-85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096000" cy="1833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75</a:t>
              </a:r>
              <a:r>
                <a:rPr lang="en-US" sz="72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+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046720" y="5340096"/>
            <a:ext cx="9509760" cy="731520"/>
            <a:chOff x="0" y="0"/>
            <a:chExt cx="1267968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679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 participants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85383" y="6845303"/>
            <a:ext cx="10358123" cy="2677163"/>
            <a:chOff x="0" y="0"/>
            <a:chExt cx="13810831" cy="35695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37769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776960">
                  <a:moveTo>
                    <a:pt x="0" y="0"/>
                  </a:moveTo>
                  <a:lnTo>
                    <a:pt x="13776960" y="0"/>
                  </a:lnTo>
                  <a:lnTo>
                    <a:pt x="1377696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810743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810743">
                  <a:moveTo>
                    <a:pt x="16891" y="0"/>
                  </a:moveTo>
                  <a:lnTo>
                    <a:pt x="13793851" y="0"/>
                  </a:lnTo>
                  <a:cubicBezTo>
                    <a:pt x="13803249" y="0"/>
                    <a:pt x="13810743" y="7620"/>
                    <a:pt x="13810743" y="16891"/>
                  </a:cubicBezTo>
                  <a:lnTo>
                    <a:pt x="13810743" y="3552571"/>
                  </a:lnTo>
                  <a:cubicBezTo>
                    <a:pt x="13810743" y="3561969"/>
                    <a:pt x="13803123" y="3569462"/>
                    <a:pt x="1379385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793851" y="3535680"/>
                  </a:lnTo>
                  <a:lnTo>
                    <a:pt x="13793851" y="3552571"/>
                  </a:lnTo>
                  <a:lnTo>
                    <a:pt x="13776961" y="3552571"/>
                  </a:lnTo>
                  <a:lnTo>
                    <a:pt x="13776961" y="16891"/>
                  </a:lnTo>
                  <a:lnTo>
                    <a:pt x="13793851" y="16891"/>
                  </a:lnTo>
                  <a:lnTo>
                    <a:pt x="13793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85383" y="6845303"/>
            <a:ext cx="244859" cy="2677163"/>
            <a:chOff x="0" y="0"/>
            <a:chExt cx="326479" cy="35695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92608" cy="3535680"/>
            </a:xfrm>
            <a:custGeom>
              <a:avLst/>
              <a:gdLst/>
              <a:ahLst/>
              <a:cxnLst/>
              <a:rect r="r" b="b" t="t" l="l"/>
              <a:pathLst>
                <a:path h="3535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6390" cy="3569462"/>
            </a:xfrm>
            <a:custGeom>
              <a:avLst/>
              <a:gdLst/>
              <a:ahLst/>
              <a:cxnLst/>
              <a:rect r="r" b="b" t="t" l="l"/>
              <a:pathLst>
                <a:path h="356946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552571"/>
                  </a:lnTo>
                  <a:cubicBezTo>
                    <a:pt x="326390" y="3561969"/>
                    <a:pt x="318770" y="3569462"/>
                    <a:pt x="30949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309499" y="3535680"/>
                  </a:lnTo>
                  <a:lnTo>
                    <a:pt x="309499" y="3552571"/>
                  </a:lnTo>
                  <a:lnTo>
                    <a:pt x="292608" y="3552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46720" y="7077456"/>
            <a:ext cx="4572000" cy="1188720"/>
            <a:chOff x="0" y="0"/>
            <a:chExt cx="609600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046720" y="8357616"/>
            <a:ext cx="9509760" cy="731520"/>
            <a:chOff x="0" y="0"/>
            <a:chExt cx="1267968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26796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Major solution categories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28523"/>
            <a:chOff x="0" y="0"/>
            <a:chExt cx="24417871" cy="2838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804160"/>
            </a:xfrm>
            <a:custGeom>
              <a:avLst/>
              <a:gdLst/>
              <a:ahLst/>
              <a:cxnLst/>
              <a:rect r="r" b="b" t="t" l="l"/>
              <a:pathLst>
                <a:path h="28041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821051"/>
                  </a:lnTo>
                  <a:cubicBezTo>
                    <a:pt x="24417782" y="2830449"/>
                    <a:pt x="24410163" y="2837942"/>
                    <a:pt x="24400890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24400890" y="2804160"/>
                  </a:lnTo>
                  <a:lnTo>
                    <a:pt x="24400890" y="2821051"/>
                  </a:lnTo>
                  <a:lnTo>
                    <a:pt x="24384000" y="28210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459200" cy="914400"/>
            <a:chOff x="0" y="0"/>
            <a:chExt cx="219456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  —  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456183"/>
            <a:ext cx="8255003" cy="3317243"/>
            <a:chOff x="0" y="0"/>
            <a:chExt cx="11006671" cy="442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406011"/>
                  </a:lnTo>
                  <a:cubicBezTo>
                    <a:pt x="11006582" y="4415409"/>
                    <a:pt x="10998962" y="4422902"/>
                    <a:pt x="1098969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0989691" y="4389120"/>
                  </a:lnTo>
                  <a:lnTo>
                    <a:pt x="10989691" y="4406011"/>
                  </a:lnTo>
                  <a:lnTo>
                    <a:pt x="10972800" y="4406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3143" y="2821943"/>
            <a:ext cx="1122683" cy="1122683"/>
            <a:chOff x="0" y="0"/>
            <a:chExt cx="1496911" cy="1496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834640"/>
            <a:ext cx="1097280" cy="1097280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2871216"/>
            <a:ext cx="6400800" cy="768096"/>
            <a:chOff x="0" y="0"/>
            <a:chExt cx="85344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5344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Fog &amp; Moisture Underutilized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4078224"/>
            <a:ext cx="7680960" cy="1499616"/>
            <a:chOff x="0" y="0"/>
            <a:chExt cx="10241280" cy="1999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Hilly regions and North India have thick winter fog — yet this moisture stays uncollected due to lack of practical systems.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88503" y="2456183"/>
            <a:ext cx="8255003" cy="3317243"/>
            <a:chOff x="0" y="0"/>
            <a:chExt cx="11006671" cy="4422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406011"/>
                  </a:lnTo>
                  <a:cubicBezTo>
                    <a:pt x="11006582" y="4415409"/>
                    <a:pt x="10998962" y="4422902"/>
                    <a:pt x="1098969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0989691" y="4389120"/>
                  </a:lnTo>
                  <a:lnTo>
                    <a:pt x="10989691" y="4406011"/>
                  </a:lnTo>
                  <a:lnTo>
                    <a:pt x="10972800" y="4406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62823" y="2821943"/>
            <a:ext cx="1122683" cy="1122683"/>
            <a:chOff x="0" y="0"/>
            <a:chExt cx="1496911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5520" y="2834640"/>
            <a:ext cx="1097280" cy="1097280"/>
            <a:chOff x="0" y="0"/>
            <a:chExt cx="1463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55680" y="2871216"/>
            <a:ext cx="6400800" cy="768096"/>
            <a:chOff x="0" y="0"/>
            <a:chExt cx="853440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5344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Real-Time Sensing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75520" y="4078224"/>
            <a:ext cx="7680960" cy="1499616"/>
            <a:chOff x="0" y="0"/>
            <a:chExt cx="10241280" cy="19994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241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Humidity, TDS, temperature &amp; air quality data is rarely gathered, limiting optimization of water harvesting.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8823" y="6113783"/>
            <a:ext cx="8255003" cy="3317243"/>
            <a:chOff x="0" y="0"/>
            <a:chExt cx="11006671" cy="4422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9728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0658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406011"/>
                  </a:lnTo>
                  <a:cubicBezTo>
                    <a:pt x="11006582" y="4415409"/>
                    <a:pt x="10998962" y="4422902"/>
                    <a:pt x="1098969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0989691" y="4389120"/>
                  </a:lnTo>
                  <a:lnTo>
                    <a:pt x="10989691" y="4406011"/>
                  </a:lnTo>
                  <a:lnTo>
                    <a:pt x="10972800" y="4406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93143" y="6479543"/>
            <a:ext cx="1122683" cy="1122683"/>
            <a:chOff x="0" y="0"/>
            <a:chExt cx="1496911" cy="1496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B8862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6492240"/>
            <a:ext cx="1097280" cy="1097280"/>
            <a:chOff x="0" y="0"/>
            <a:chExt cx="14630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AQI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86000" y="6528816"/>
            <a:ext cx="6400800" cy="768096"/>
            <a:chOff x="0" y="0"/>
            <a:chExt cx="853440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5344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Pollution Risk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" y="7735824"/>
            <a:ext cx="7680960" cy="1499616"/>
            <a:chOff x="0" y="0"/>
            <a:chExt cx="10241280" cy="19994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241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smoggy conditions, atmospheric pollutants affect harvested water purity — monitoring systems are essential.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88503" y="6113783"/>
            <a:ext cx="8255003" cy="3317243"/>
            <a:chOff x="0" y="0"/>
            <a:chExt cx="11006671" cy="4422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9728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0658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406011"/>
                  </a:lnTo>
                  <a:cubicBezTo>
                    <a:pt x="11006582" y="4415409"/>
                    <a:pt x="10998962" y="4422902"/>
                    <a:pt x="1098969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0989691" y="4389120"/>
                  </a:lnTo>
                  <a:lnTo>
                    <a:pt x="10989691" y="4406011"/>
                  </a:lnTo>
                  <a:lnTo>
                    <a:pt x="10972800" y="4406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862823" y="6479543"/>
            <a:ext cx="1122683" cy="1122683"/>
            <a:chOff x="0" y="0"/>
            <a:chExt cx="1496911" cy="1496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6492240"/>
            <a:ext cx="1097280" cy="1097280"/>
            <a:chOff x="0" y="0"/>
            <a:chExt cx="146304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55680" y="6528816"/>
            <a:ext cx="6400800" cy="768096"/>
            <a:chOff x="0" y="0"/>
            <a:chExt cx="853440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5344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Awareness Gap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75520" y="7735824"/>
            <a:ext cx="7680960" cy="1499616"/>
            <a:chOff x="0" y="0"/>
            <a:chExt cx="10241280" cy="1999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" r="0" b="-498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241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People are unaware of alternatives like fog collection, radiative dew harvesting, and AI-guided systems.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18823" y="9314183"/>
            <a:ext cx="16850363" cy="720347"/>
            <a:chOff x="0" y="0"/>
            <a:chExt cx="22467151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67063" cy="960376"/>
            </a:xfrm>
            <a:custGeom>
              <a:avLst/>
              <a:gdLst/>
              <a:ahLst/>
              <a:cxnLst/>
              <a:rect r="r" b="b" t="t" l="l"/>
              <a:pathLst>
                <a:path h="96037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943483"/>
                  </a:lnTo>
                  <a:cubicBezTo>
                    <a:pt x="22467063" y="952881"/>
                    <a:pt x="22459443" y="960374"/>
                    <a:pt x="22450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450171" y="926592"/>
                  </a:lnTo>
                  <a:lnTo>
                    <a:pt x="22450171" y="943483"/>
                  </a:lnTo>
                  <a:lnTo>
                    <a:pt x="22433280" y="94348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" y="9381744"/>
            <a:ext cx="16276320" cy="548640"/>
            <a:chOff x="0" y="0"/>
            <a:chExt cx="217017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170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C8A8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FINDING:  Water scarcity is not only about lack of resources — it's a mismatch between regional conditions and solutions applied.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31520"/>
            <a:ext cx="7315200" cy="2743200"/>
            <a:chOff x="0" y="0"/>
            <a:chExt cx="9753600" cy="36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753600" cy="3676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SURVEY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3188970"/>
            <a:ext cx="7680960" cy="640080"/>
            <a:chOff x="0" y="0"/>
            <a:chExt cx="1024128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8A8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75 </a:t>
              </a:r>
              <a:r>
                <a:rPr lang="en-US" sz="2200">
                  <a:solidFill>
                    <a:srgbClr val="C8A8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respondents — students + local farmers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9471" y="3264737"/>
            <a:ext cx="6361176" cy="716889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09381" y="2692127"/>
            <a:ext cx="7630358" cy="8100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12064"/>
            <a:ext cx="16459200" cy="822960"/>
            <a:chOff x="0" y="0"/>
            <a:chExt cx="219456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 — CAUSES OF WATER SCARCITY IN INDIA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82602" y="846995"/>
            <a:ext cx="14921142" cy="10221157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3271506" y="2090423"/>
            <a:ext cx="4871723" cy="729627"/>
            <a:chOff x="0" y="0"/>
            <a:chExt cx="6495631" cy="9728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5552"/>
              <a:ext cx="6461760" cy="961704"/>
            </a:xfrm>
            <a:custGeom>
              <a:avLst/>
              <a:gdLst/>
              <a:ahLst/>
              <a:cxnLst/>
              <a:rect r="r" b="b" t="t" l="l"/>
              <a:pathLst>
                <a:path h="9617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61703"/>
                  </a:lnTo>
                  <a:lnTo>
                    <a:pt x="0" y="961703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95542" cy="972807"/>
            </a:xfrm>
            <a:custGeom>
              <a:avLst/>
              <a:gdLst/>
              <a:ahLst/>
              <a:cxnLst/>
              <a:rect r="r" b="b" t="t" l="l"/>
              <a:pathLst>
                <a:path h="972807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2504"/>
                    <a:pt x="6495542" y="5552"/>
                  </a:cubicBezTo>
                  <a:lnTo>
                    <a:pt x="6495542" y="967255"/>
                  </a:lnTo>
                  <a:cubicBezTo>
                    <a:pt x="6495542" y="970344"/>
                    <a:pt x="6487922" y="972807"/>
                    <a:pt x="6478651" y="972807"/>
                  </a:cubicBezTo>
                  <a:lnTo>
                    <a:pt x="16891" y="972807"/>
                  </a:lnTo>
                  <a:cubicBezTo>
                    <a:pt x="7493" y="972807"/>
                    <a:pt x="0" y="970302"/>
                    <a:pt x="0" y="967255"/>
                  </a:cubicBezTo>
                  <a:lnTo>
                    <a:pt x="0" y="5552"/>
                  </a:lnTo>
                  <a:cubicBezTo>
                    <a:pt x="0" y="2504"/>
                    <a:pt x="7620" y="0"/>
                    <a:pt x="16891" y="0"/>
                  </a:cubicBezTo>
                  <a:moveTo>
                    <a:pt x="16891" y="11145"/>
                  </a:moveTo>
                  <a:lnTo>
                    <a:pt x="16891" y="5552"/>
                  </a:lnTo>
                  <a:lnTo>
                    <a:pt x="33909" y="5552"/>
                  </a:lnTo>
                  <a:lnTo>
                    <a:pt x="33909" y="967255"/>
                  </a:lnTo>
                  <a:lnTo>
                    <a:pt x="16891" y="967255"/>
                  </a:lnTo>
                  <a:lnTo>
                    <a:pt x="16891" y="961704"/>
                  </a:lnTo>
                  <a:lnTo>
                    <a:pt x="6478651" y="961704"/>
                  </a:lnTo>
                  <a:lnTo>
                    <a:pt x="6478651" y="967255"/>
                  </a:lnTo>
                  <a:lnTo>
                    <a:pt x="6461760" y="967255"/>
                  </a:lnTo>
                  <a:lnTo>
                    <a:pt x="6461760" y="5552"/>
                  </a:lnTo>
                  <a:lnTo>
                    <a:pt x="6478651" y="5552"/>
                  </a:lnTo>
                  <a:lnTo>
                    <a:pt x="6478651" y="11145"/>
                  </a:lnTo>
                  <a:lnTo>
                    <a:pt x="16891" y="1114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63223" y="2090423"/>
            <a:ext cx="208283" cy="2219963"/>
            <a:chOff x="0" y="0"/>
            <a:chExt cx="277711" cy="29599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7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942971"/>
                  </a:lnTo>
                  <a:cubicBezTo>
                    <a:pt x="277622" y="2952369"/>
                    <a:pt x="270002" y="2959862"/>
                    <a:pt x="260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60731" y="2926080"/>
                  </a:lnTo>
                  <a:lnTo>
                    <a:pt x="260731" y="2942971"/>
                  </a:lnTo>
                  <a:lnTo>
                    <a:pt x="243840" y="294297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304525" y="2101589"/>
            <a:ext cx="4389120" cy="1003474"/>
            <a:chOff x="0" y="0"/>
            <a:chExt cx="5852160" cy="13379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1337965"/>
            </a:xfrm>
            <a:custGeom>
              <a:avLst/>
              <a:gdLst/>
              <a:ahLst/>
              <a:cxnLst/>
              <a:rect r="r" b="b" t="t" l="l"/>
              <a:pathLst>
                <a:path h="133796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37965"/>
                  </a:lnTo>
                  <a:lnTo>
                    <a:pt x="0" y="1337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-822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852160" cy="1376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Agricultural overuse (tube wells, paddy,irrigation,grounwater)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63223" y="4650743"/>
            <a:ext cx="4871723" cy="2219963"/>
            <a:chOff x="0" y="0"/>
            <a:chExt cx="6495631" cy="2959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6461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955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2942971"/>
                  </a:lnTo>
                  <a:cubicBezTo>
                    <a:pt x="6495542" y="2952369"/>
                    <a:pt x="6487922" y="2959862"/>
                    <a:pt x="64786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478651" y="2926080"/>
                  </a:lnTo>
                  <a:lnTo>
                    <a:pt x="6478651" y="2942971"/>
                  </a:lnTo>
                  <a:lnTo>
                    <a:pt x="6461760" y="294297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63223" y="4650743"/>
            <a:ext cx="208283" cy="2219963"/>
            <a:chOff x="0" y="0"/>
            <a:chExt cx="277711" cy="29599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43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7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942971"/>
                  </a:lnTo>
                  <a:cubicBezTo>
                    <a:pt x="277622" y="2952369"/>
                    <a:pt x="270002" y="2959862"/>
                    <a:pt x="260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60731" y="2926080"/>
                  </a:lnTo>
                  <a:lnTo>
                    <a:pt x="260731" y="2942971"/>
                  </a:lnTo>
                  <a:lnTo>
                    <a:pt x="243840" y="294297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86816" y="5069843"/>
            <a:ext cx="4389120" cy="1550413"/>
            <a:chOff x="0" y="0"/>
            <a:chExt cx="5852160" cy="20672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2067217"/>
            </a:xfrm>
            <a:custGeom>
              <a:avLst/>
              <a:gdLst/>
              <a:ahLst/>
              <a:cxnLst/>
              <a:rect r="r" b="b" t="t" l="l"/>
              <a:pathLst>
                <a:path h="206721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67217"/>
                  </a:lnTo>
                  <a:lnTo>
                    <a:pt x="0" y="2067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-179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852160" cy="2105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water management policies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63223" y="7211063"/>
            <a:ext cx="4871723" cy="839387"/>
            <a:chOff x="0" y="0"/>
            <a:chExt cx="6495631" cy="11191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6387"/>
              <a:ext cx="6461760" cy="1106375"/>
            </a:xfrm>
            <a:custGeom>
              <a:avLst/>
              <a:gdLst/>
              <a:ahLst/>
              <a:cxnLst/>
              <a:rect r="r" b="b" t="t" l="l"/>
              <a:pathLst>
                <a:path h="110637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06375"/>
                  </a:lnTo>
                  <a:lnTo>
                    <a:pt x="0" y="1106375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5542" cy="1119148"/>
            </a:xfrm>
            <a:custGeom>
              <a:avLst/>
              <a:gdLst/>
              <a:ahLst/>
              <a:cxnLst/>
              <a:rect r="r" b="b" t="t" l="l"/>
              <a:pathLst>
                <a:path h="1119148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2881"/>
                    <a:pt x="6495542" y="6387"/>
                  </a:cubicBezTo>
                  <a:lnTo>
                    <a:pt x="6495542" y="1112762"/>
                  </a:lnTo>
                  <a:cubicBezTo>
                    <a:pt x="6495542" y="1116315"/>
                    <a:pt x="6487922" y="1119148"/>
                    <a:pt x="6478651" y="1119148"/>
                  </a:cubicBezTo>
                  <a:lnTo>
                    <a:pt x="16891" y="1119148"/>
                  </a:lnTo>
                  <a:cubicBezTo>
                    <a:pt x="7493" y="1119148"/>
                    <a:pt x="0" y="1116267"/>
                    <a:pt x="0" y="1112762"/>
                  </a:cubicBezTo>
                  <a:lnTo>
                    <a:pt x="0" y="6387"/>
                  </a:lnTo>
                  <a:cubicBezTo>
                    <a:pt x="0" y="2881"/>
                    <a:pt x="7620" y="0"/>
                    <a:pt x="16891" y="0"/>
                  </a:cubicBezTo>
                  <a:moveTo>
                    <a:pt x="16891" y="12821"/>
                  </a:moveTo>
                  <a:lnTo>
                    <a:pt x="16891" y="6387"/>
                  </a:lnTo>
                  <a:lnTo>
                    <a:pt x="33909" y="6387"/>
                  </a:lnTo>
                  <a:lnTo>
                    <a:pt x="33909" y="1112762"/>
                  </a:lnTo>
                  <a:lnTo>
                    <a:pt x="16891" y="1112762"/>
                  </a:lnTo>
                  <a:lnTo>
                    <a:pt x="16891" y="1106375"/>
                  </a:lnTo>
                  <a:lnTo>
                    <a:pt x="6478651" y="1106375"/>
                  </a:lnTo>
                  <a:lnTo>
                    <a:pt x="6478651" y="1112762"/>
                  </a:lnTo>
                  <a:lnTo>
                    <a:pt x="6461760" y="1112762"/>
                  </a:lnTo>
                  <a:lnTo>
                    <a:pt x="6461760" y="6387"/>
                  </a:lnTo>
                  <a:lnTo>
                    <a:pt x="6478651" y="6387"/>
                  </a:lnTo>
                  <a:lnTo>
                    <a:pt x="6478651" y="12821"/>
                  </a:lnTo>
                  <a:lnTo>
                    <a:pt x="16891" y="12821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063223" y="7211063"/>
            <a:ext cx="208283" cy="2219963"/>
            <a:chOff x="0" y="0"/>
            <a:chExt cx="277711" cy="29599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243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7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2942971"/>
                  </a:lnTo>
                  <a:cubicBezTo>
                    <a:pt x="277622" y="2952369"/>
                    <a:pt x="270002" y="2959862"/>
                    <a:pt x="260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60731" y="2926080"/>
                  </a:lnTo>
                  <a:lnTo>
                    <a:pt x="260731" y="2942971"/>
                  </a:lnTo>
                  <a:lnTo>
                    <a:pt x="243840" y="294297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304525" y="7261231"/>
            <a:ext cx="4389120" cy="698674"/>
            <a:chOff x="0" y="0"/>
            <a:chExt cx="5852160" cy="9315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931565"/>
            </a:xfrm>
            <a:custGeom>
              <a:avLst/>
              <a:gdLst/>
              <a:ahLst/>
              <a:cxnLst/>
              <a:rect r="r" b="b" t="t" l="l"/>
              <a:pathLst>
                <a:path h="93156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-16175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85216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pollution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71506" y="3606387"/>
            <a:ext cx="4871723" cy="701456"/>
            <a:chOff x="0" y="0"/>
            <a:chExt cx="6495631" cy="935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5337"/>
              <a:ext cx="6461760" cy="924573"/>
            </a:xfrm>
            <a:custGeom>
              <a:avLst/>
              <a:gdLst/>
              <a:ahLst/>
              <a:cxnLst/>
              <a:rect r="r" b="b" t="t" l="l"/>
              <a:pathLst>
                <a:path h="924573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4573"/>
                  </a:lnTo>
                  <a:lnTo>
                    <a:pt x="0" y="924573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5542" cy="935247"/>
            </a:xfrm>
            <a:custGeom>
              <a:avLst/>
              <a:gdLst/>
              <a:ahLst/>
              <a:cxnLst/>
              <a:rect r="r" b="b" t="t" l="l"/>
              <a:pathLst>
                <a:path h="935247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2408"/>
                    <a:pt x="6495542" y="5337"/>
                  </a:cubicBezTo>
                  <a:lnTo>
                    <a:pt x="6495542" y="929910"/>
                  </a:lnTo>
                  <a:cubicBezTo>
                    <a:pt x="6495542" y="932879"/>
                    <a:pt x="6487922" y="935247"/>
                    <a:pt x="6478651" y="935247"/>
                  </a:cubicBezTo>
                  <a:lnTo>
                    <a:pt x="16891" y="935247"/>
                  </a:lnTo>
                  <a:cubicBezTo>
                    <a:pt x="7493" y="935247"/>
                    <a:pt x="0" y="932839"/>
                    <a:pt x="0" y="929910"/>
                  </a:cubicBezTo>
                  <a:lnTo>
                    <a:pt x="0" y="5337"/>
                  </a:lnTo>
                  <a:cubicBezTo>
                    <a:pt x="0" y="2408"/>
                    <a:pt x="7620" y="0"/>
                    <a:pt x="16891" y="0"/>
                  </a:cubicBezTo>
                  <a:moveTo>
                    <a:pt x="16891" y="10714"/>
                  </a:moveTo>
                  <a:lnTo>
                    <a:pt x="16891" y="5337"/>
                  </a:lnTo>
                  <a:lnTo>
                    <a:pt x="33909" y="5337"/>
                  </a:lnTo>
                  <a:lnTo>
                    <a:pt x="33909" y="929910"/>
                  </a:lnTo>
                  <a:lnTo>
                    <a:pt x="16891" y="929910"/>
                  </a:lnTo>
                  <a:lnTo>
                    <a:pt x="16891" y="924573"/>
                  </a:lnTo>
                  <a:lnTo>
                    <a:pt x="6478651" y="924573"/>
                  </a:lnTo>
                  <a:lnTo>
                    <a:pt x="6478651" y="929910"/>
                  </a:lnTo>
                  <a:lnTo>
                    <a:pt x="6461760" y="929910"/>
                  </a:lnTo>
                  <a:lnTo>
                    <a:pt x="6461760" y="5337"/>
                  </a:lnTo>
                  <a:lnTo>
                    <a:pt x="6478651" y="5337"/>
                  </a:lnTo>
                  <a:lnTo>
                    <a:pt x="6478651" y="10714"/>
                  </a:lnTo>
                  <a:lnTo>
                    <a:pt x="16891" y="10714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271506" y="3614215"/>
            <a:ext cx="48717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population growth and urban demand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13271506" y="8593375"/>
            <a:ext cx="4871723" cy="839387"/>
            <a:chOff x="0" y="0"/>
            <a:chExt cx="6495631" cy="11191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6387"/>
              <a:ext cx="6461760" cy="1106375"/>
            </a:xfrm>
            <a:custGeom>
              <a:avLst/>
              <a:gdLst/>
              <a:ahLst/>
              <a:cxnLst/>
              <a:rect r="r" b="b" t="t" l="l"/>
              <a:pathLst>
                <a:path h="110637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06375"/>
                  </a:lnTo>
                  <a:lnTo>
                    <a:pt x="0" y="1106375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95542" cy="1119148"/>
            </a:xfrm>
            <a:custGeom>
              <a:avLst/>
              <a:gdLst/>
              <a:ahLst/>
              <a:cxnLst/>
              <a:rect r="r" b="b" t="t" l="l"/>
              <a:pathLst>
                <a:path h="1119148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2881"/>
                    <a:pt x="6495542" y="6387"/>
                  </a:cubicBezTo>
                  <a:lnTo>
                    <a:pt x="6495542" y="1112762"/>
                  </a:lnTo>
                  <a:cubicBezTo>
                    <a:pt x="6495542" y="1116315"/>
                    <a:pt x="6487922" y="1119148"/>
                    <a:pt x="6478651" y="1119148"/>
                  </a:cubicBezTo>
                  <a:lnTo>
                    <a:pt x="16891" y="1119148"/>
                  </a:lnTo>
                  <a:cubicBezTo>
                    <a:pt x="7493" y="1119148"/>
                    <a:pt x="0" y="1116267"/>
                    <a:pt x="0" y="1112762"/>
                  </a:cubicBezTo>
                  <a:lnTo>
                    <a:pt x="0" y="6387"/>
                  </a:lnTo>
                  <a:cubicBezTo>
                    <a:pt x="0" y="2881"/>
                    <a:pt x="7620" y="0"/>
                    <a:pt x="16891" y="0"/>
                  </a:cubicBezTo>
                  <a:moveTo>
                    <a:pt x="16891" y="12821"/>
                  </a:moveTo>
                  <a:lnTo>
                    <a:pt x="16891" y="6387"/>
                  </a:lnTo>
                  <a:lnTo>
                    <a:pt x="33909" y="6387"/>
                  </a:lnTo>
                  <a:lnTo>
                    <a:pt x="33909" y="1112762"/>
                  </a:lnTo>
                  <a:lnTo>
                    <a:pt x="16891" y="1112762"/>
                  </a:lnTo>
                  <a:lnTo>
                    <a:pt x="16891" y="1106375"/>
                  </a:lnTo>
                  <a:lnTo>
                    <a:pt x="6478651" y="1106375"/>
                  </a:lnTo>
                  <a:lnTo>
                    <a:pt x="6478651" y="1112762"/>
                  </a:lnTo>
                  <a:lnTo>
                    <a:pt x="6461760" y="1112762"/>
                  </a:lnTo>
                  <a:lnTo>
                    <a:pt x="6461760" y="6387"/>
                  </a:lnTo>
                  <a:lnTo>
                    <a:pt x="6478651" y="6387"/>
                  </a:lnTo>
                  <a:lnTo>
                    <a:pt x="6478651" y="12821"/>
                  </a:lnTo>
                  <a:lnTo>
                    <a:pt x="16891" y="12821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167365" y="8593375"/>
            <a:ext cx="4389120" cy="1003474"/>
            <a:chOff x="0" y="0"/>
            <a:chExt cx="5852160" cy="13379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1337965"/>
            </a:xfrm>
            <a:custGeom>
              <a:avLst/>
              <a:gdLst/>
              <a:ahLst/>
              <a:cxnLst/>
              <a:rect r="r" b="b" t="t" l="l"/>
              <a:pathLst>
                <a:path h="133796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37965"/>
                  </a:lnTo>
                  <a:lnTo>
                    <a:pt x="0" y="13379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-8224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852160" cy="1376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Climate change and rainfall variability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457200"/>
            <a:ext cx="1828800" cy="1188720"/>
            <a:chOff x="0" y="0"/>
            <a:chExt cx="24384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384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1737360"/>
            <a:ext cx="17007840" cy="822960"/>
            <a:chOff x="0" y="0"/>
            <a:chExt cx="2267712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690" r="0" b="-3526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6771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CURRENT DEVELOPMENTS IN FOG WATER HARVESTING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7383" y="2821943"/>
            <a:ext cx="5511803" cy="6974843"/>
            <a:chOff x="0" y="0"/>
            <a:chExt cx="7349071" cy="9299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2821943"/>
            <a:ext cx="5511803" cy="244859"/>
            <a:chOff x="0" y="0"/>
            <a:chExt cx="7349071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3108960"/>
            <a:ext cx="1463040" cy="914400"/>
            <a:chOff x="0" y="0"/>
            <a:chExt cx="19507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C729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50743" y="3132839"/>
            <a:ext cx="1122683" cy="1122683"/>
            <a:chOff x="0" y="0"/>
            <a:chExt cx="1496911" cy="1496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63440" y="3145536"/>
            <a:ext cx="1097280" cy="1097280"/>
            <a:chOff x="0" y="0"/>
            <a:chExt cx="1463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4206240"/>
            <a:ext cx="4937760" cy="822960"/>
            <a:chOff x="0" y="0"/>
            <a:chExt cx="65836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5836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Biomimetic Mesh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212080"/>
            <a:ext cx="4937760" cy="4297680"/>
            <a:chOff x="0" y="0"/>
            <a:chExt cx="6583680" cy="573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671" t="0" r="-6167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577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Inspired by the Namib Desert beetle and cactus spines — Janus membranes with hydrophilic tips and hydrophobic valleys dramatically increase water capture.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79543" y="2821943"/>
            <a:ext cx="5511803" cy="6974843"/>
            <a:chOff x="0" y="0"/>
            <a:chExt cx="7349071" cy="9299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543" y="2821943"/>
            <a:ext cx="5511803" cy="244859"/>
            <a:chOff x="0" y="0"/>
            <a:chExt cx="7349071" cy="3264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766560" y="3108960"/>
            <a:ext cx="1463040" cy="914400"/>
            <a:chOff x="0" y="0"/>
            <a:chExt cx="19507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02903" y="3132839"/>
            <a:ext cx="1122683" cy="1122683"/>
            <a:chOff x="0" y="0"/>
            <a:chExt cx="1496911" cy="1496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515600" y="3145536"/>
            <a:ext cx="1097280" cy="1097280"/>
            <a:chOff x="0" y="0"/>
            <a:chExt cx="14630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66560" y="4206240"/>
            <a:ext cx="4937760" cy="822960"/>
            <a:chOff x="0" y="0"/>
            <a:chExt cx="65836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5836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3D Spacer Fabrics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6560" y="5212080"/>
            <a:ext cx="4937760" cy="4297680"/>
            <a:chOff x="0" y="0"/>
            <a:chExt cx="6583680" cy="5730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671" t="0" r="-6167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583680" cy="577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CloudFisher-style 3D mesh grids withstand 120 km/h winds. Prevent water loss from flapping and greatly reduce maintenance.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31703" y="2821943"/>
            <a:ext cx="5511803" cy="6974843"/>
            <a:chOff x="0" y="0"/>
            <a:chExt cx="7349071" cy="92997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331703" y="2821943"/>
            <a:ext cx="5511803" cy="244859"/>
            <a:chOff x="0" y="0"/>
            <a:chExt cx="7349071" cy="3264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0" cy="292608"/>
            </a:xfrm>
            <a:custGeom>
              <a:avLst/>
              <a:gdLst/>
              <a:ahLst/>
              <a:cxnLst/>
              <a:rect r="r" b="b" t="t" l="l"/>
              <a:pathLst>
                <a:path h="29260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8982" cy="326392"/>
            </a:xfrm>
            <a:custGeom>
              <a:avLst/>
              <a:gdLst/>
              <a:ahLst/>
              <a:cxnLst/>
              <a:rect r="r" b="b" t="t" l="l"/>
              <a:pathLst>
                <a:path h="32639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09499"/>
                  </a:lnTo>
                  <a:cubicBezTo>
                    <a:pt x="7348982" y="318897"/>
                    <a:pt x="7341362" y="326390"/>
                    <a:pt x="73320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332091" y="292608"/>
                  </a:lnTo>
                  <a:lnTo>
                    <a:pt x="7332091" y="309499"/>
                  </a:lnTo>
                  <a:lnTo>
                    <a:pt x="7315200" y="30949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618720" y="3108960"/>
            <a:ext cx="1463040" cy="914400"/>
            <a:chOff x="0" y="0"/>
            <a:chExt cx="195072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355063" y="3132839"/>
            <a:ext cx="1122683" cy="1122683"/>
            <a:chOff x="0" y="0"/>
            <a:chExt cx="1496911" cy="14969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lnTo>
                    <a:pt x="748411" y="16891"/>
                  </a:lnTo>
                  <a:lnTo>
                    <a:pt x="748411" y="0"/>
                  </a:lnTo>
                  <a:cubicBezTo>
                    <a:pt x="1161796" y="0"/>
                    <a:pt x="1496822" y="335153"/>
                    <a:pt x="1496822" y="748411"/>
                  </a:cubicBezTo>
                  <a:lnTo>
                    <a:pt x="1479931" y="748411"/>
                  </a:lnTo>
                  <a:lnTo>
                    <a:pt x="1496822" y="748411"/>
                  </a:lnTo>
                  <a:cubicBezTo>
                    <a:pt x="1496822" y="1161796"/>
                    <a:pt x="1161669" y="1496822"/>
                    <a:pt x="748411" y="1496822"/>
                  </a:cubicBezTo>
                  <a:lnTo>
                    <a:pt x="748411" y="1479931"/>
                  </a:lnTo>
                  <a:lnTo>
                    <a:pt x="748411" y="1496822"/>
                  </a:lnTo>
                  <a:cubicBezTo>
                    <a:pt x="335153" y="1496949"/>
                    <a:pt x="0" y="1161796"/>
                    <a:pt x="0" y="748411"/>
                  </a:cubicBezTo>
                  <a:lnTo>
                    <a:pt x="16891" y="74841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0" y="748411"/>
                  </a:lnTo>
                  <a:moveTo>
                    <a:pt x="33909" y="748411"/>
                  </a:moveTo>
                  <a:cubicBezTo>
                    <a:pt x="33909" y="757809"/>
                    <a:pt x="26289" y="765302"/>
                    <a:pt x="17018" y="765302"/>
                  </a:cubicBezTo>
                  <a:cubicBezTo>
                    <a:pt x="7747" y="765302"/>
                    <a:pt x="0" y="757809"/>
                    <a:pt x="0" y="748411"/>
                  </a:cubicBezTo>
                  <a:cubicBezTo>
                    <a:pt x="0" y="739013"/>
                    <a:pt x="7620" y="731520"/>
                    <a:pt x="16891" y="731520"/>
                  </a:cubicBezTo>
                  <a:cubicBezTo>
                    <a:pt x="26162" y="731520"/>
                    <a:pt x="33782" y="739140"/>
                    <a:pt x="33782" y="748411"/>
                  </a:cubicBezTo>
                  <a:cubicBezTo>
                    <a:pt x="33782" y="1143127"/>
                    <a:pt x="353695" y="1463040"/>
                    <a:pt x="748411" y="1463040"/>
                  </a:cubicBezTo>
                  <a:cubicBezTo>
                    <a:pt x="1143127" y="1463040"/>
                    <a:pt x="1463040" y="1143127"/>
                    <a:pt x="1463040" y="748411"/>
                  </a:cubicBezTo>
                  <a:cubicBezTo>
                    <a:pt x="1463040" y="353695"/>
                    <a:pt x="1143127" y="33782"/>
                    <a:pt x="748411" y="33782"/>
                  </a:cubicBezTo>
                  <a:lnTo>
                    <a:pt x="748411" y="16891"/>
                  </a:lnTo>
                  <a:lnTo>
                    <a:pt x="748411" y="33909"/>
                  </a:lnTo>
                  <a:cubicBezTo>
                    <a:pt x="353822" y="33909"/>
                    <a:pt x="33909" y="353822"/>
                    <a:pt x="33909" y="74841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367760" y="3145536"/>
            <a:ext cx="1097280" cy="1097280"/>
            <a:chOff x="0" y="0"/>
            <a:chExt cx="146304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46304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18720" y="4206240"/>
            <a:ext cx="4937760" cy="822960"/>
            <a:chOff x="0" y="0"/>
            <a:chExt cx="658368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5836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IoT Smart Monitoring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618720" y="5212080"/>
            <a:ext cx="4937760" cy="4297680"/>
            <a:chOff x="0" y="0"/>
            <a:chExt cx="6583680" cy="57302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5730240"/>
            </a:xfrm>
            <a:custGeom>
              <a:avLst/>
              <a:gdLst/>
              <a:ahLst/>
              <a:cxnLst/>
              <a:rect r="r" b="b" t="t" l="l"/>
              <a:pathLst>
                <a:path h="57302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671" t="0" r="-6167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583680" cy="577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sensors for wind speed, humidity &amp; water yield. Continuous data enables efficiency calculation, damage detection &amp; supply prediction.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2697"/>
            <a:ext cx="4597403" cy="10312403"/>
            <a:chOff x="0" y="0"/>
            <a:chExt cx="6129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096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29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732890"/>
                  </a:lnTo>
                  <a:cubicBezTo>
                    <a:pt x="6129782" y="13742290"/>
                    <a:pt x="6122162" y="13749782"/>
                    <a:pt x="6112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112891" y="13716000"/>
                  </a:lnTo>
                  <a:lnTo>
                    <a:pt x="6112891" y="13732890"/>
                  </a:lnTo>
                  <a:lnTo>
                    <a:pt x="6096000" y="13732890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457200"/>
            <a:ext cx="2194560" cy="1280160"/>
            <a:chOff x="0" y="0"/>
            <a:chExt cx="292608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60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92608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737360"/>
            <a:ext cx="9144000" cy="2011680"/>
            <a:chOff x="0" y="0"/>
            <a:chExt cx="121920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192000" cy="2682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GOALS &amp;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OBJECTIVES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4193543"/>
            <a:ext cx="12278363" cy="1031243"/>
            <a:chOff x="0" y="0"/>
            <a:chExt cx="16371151" cy="1374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71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6371063">
                  <a:moveTo>
                    <a:pt x="16891" y="0"/>
                  </a:moveTo>
                  <a:lnTo>
                    <a:pt x="16354171" y="0"/>
                  </a:lnTo>
                  <a:cubicBezTo>
                    <a:pt x="16363569" y="0"/>
                    <a:pt x="16371063" y="7620"/>
                    <a:pt x="16371063" y="16891"/>
                  </a:cubicBezTo>
                  <a:lnTo>
                    <a:pt x="16371063" y="1358011"/>
                  </a:lnTo>
                  <a:cubicBezTo>
                    <a:pt x="16371063" y="1367409"/>
                    <a:pt x="16363443" y="1374902"/>
                    <a:pt x="16354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54171" y="1341120"/>
                  </a:lnTo>
                  <a:lnTo>
                    <a:pt x="16354171" y="1358011"/>
                  </a:lnTo>
                  <a:lnTo>
                    <a:pt x="16337280" y="1358011"/>
                  </a:lnTo>
                  <a:lnTo>
                    <a:pt x="16337280" y="16891"/>
                  </a:lnTo>
                  <a:lnTo>
                    <a:pt x="16354171" y="16891"/>
                  </a:lnTo>
                  <a:lnTo>
                    <a:pt x="1635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4339847"/>
            <a:ext cx="720347" cy="720347"/>
            <a:chOff x="0" y="0"/>
            <a:chExt cx="960463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4352544"/>
            <a:ext cx="694944" cy="694944"/>
            <a:chOff x="0" y="0"/>
            <a:chExt cx="926592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26592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4297680"/>
            <a:ext cx="10789920" cy="768096"/>
            <a:chOff x="0" y="0"/>
            <a:chExt cx="1438656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865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18" r="0" b="-2237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386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radiative dew &amp; fog harvesting system to collect surplus atmospheric moisture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5345687"/>
            <a:ext cx="12278363" cy="1031243"/>
            <a:chOff x="0" y="0"/>
            <a:chExt cx="1637115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371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6371063">
                  <a:moveTo>
                    <a:pt x="16891" y="0"/>
                  </a:moveTo>
                  <a:lnTo>
                    <a:pt x="16354171" y="0"/>
                  </a:lnTo>
                  <a:cubicBezTo>
                    <a:pt x="16363569" y="0"/>
                    <a:pt x="16371063" y="7620"/>
                    <a:pt x="16371063" y="16891"/>
                  </a:cubicBezTo>
                  <a:lnTo>
                    <a:pt x="16371063" y="1358011"/>
                  </a:lnTo>
                  <a:cubicBezTo>
                    <a:pt x="16371063" y="1367409"/>
                    <a:pt x="16363443" y="1374902"/>
                    <a:pt x="16354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54171" y="1341120"/>
                  </a:lnTo>
                  <a:lnTo>
                    <a:pt x="16354171" y="1358011"/>
                  </a:lnTo>
                  <a:lnTo>
                    <a:pt x="16337280" y="1358011"/>
                  </a:lnTo>
                  <a:lnTo>
                    <a:pt x="16337280" y="16891"/>
                  </a:lnTo>
                  <a:lnTo>
                    <a:pt x="16354171" y="16891"/>
                  </a:lnTo>
                  <a:lnTo>
                    <a:pt x="1635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1703" y="5491991"/>
            <a:ext cx="720347" cy="720347"/>
            <a:chOff x="0" y="0"/>
            <a:chExt cx="960463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5504688"/>
            <a:ext cx="694944" cy="694944"/>
            <a:chOff x="0" y="0"/>
            <a:chExt cx="926592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26592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8800" y="5449824"/>
            <a:ext cx="10789920" cy="768096"/>
            <a:chOff x="0" y="0"/>
            <a:chExt cx="1438656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865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18" r="0" b="-2237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386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environmental variables (humidity, temp, TDS, air quality) via sensors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6497831"/>
            <a:ext cx="12278363" cy="1031243"/>
            <a:chOff x="0" y="0"/>
            <a:chExt cx="1637115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371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6371063">
                  <a:moveTo>
                    <a:pt x="16891" y="0"/>
                  </a:moveTo>
                  <a:lnTo>
                    <a:pt x="16354171" y="0"/>
                  </a:lnTo>
                  <a:cubicBezTo>
                    <a:pt x="16363569" y="0"/>
                    <a:pt x="16371063" y="7620"/>
                    <a:pt x="16371063" y="16891"/>
                  </a:cubicBezTo>
                  <a:lnTo>
                    <a:pt x="16371063" y="1358011"/>
                  </a:lnTo>
                  <a:cubicBezTo>
                    <a:pt x="16371063" y="1367409"/>
                    <a:pt x="16363443" y="1374902"/>
                    <a:pt x="16354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54171" y="1341120"/>
                  </a:lnTo>
                  <a:lnTo>
                    <a:pt x="16354171" y="1358011"/>
                  </a:lnTo>
                  <a:lnTo>
                    <a:pt x="16337280" y="1358011"/>
                  </a:lnTo>
                  <a:lnTo>
                    <a:pt x="16337280" y="16891"/>
                  </a:lnTo>
                  <a:lnTo>
                    <a:pt x="16354171" y="16891"/>
                  </a:lnTo>
                  <a:lnTo>
                    <a:pt x="1635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1703" y="6644135"/>
            <a:ext cx="720347" cy="720347"/>
            <a:chOff x="0" y="0"/>
            <a:chExt cx="960463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6656832"/>
            <a:ext cx="694944" cy="694944"/>
            <a:chOff x="0" y="0"/>
            <a:chExt cx="92659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26592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28800" y="6601968"/>
            <a:ext cx="10789920" cy="768096"/>
            <a:chOff x="0" y="0"/>
            <a:chExt cx="1438656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3865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18" r="0" b="-2237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386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 and analyze water quality using TDS and turbidity sensors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7649975"/>
            <a:ext cx="12278363" cy="1031243"/>
            <a:chOff x="0" y="0"/>
            <a:chExt cx="16371151" cy="13749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371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6371063">
                  <a:moveTo>
                    <a:pt x="16891" y="0"/>
                  </a:moveTo>
                  <a:lnTo>
                    <a:pt x="16354171" y="0"/>
                  </a:lnTo>
                  <a:cubicBezTo>
                    <a:pt x="16363569" y="0"/>
                    <a:pt x="16371063" y="7620"/>
                    <a:pt x="16371063" y="16891"/>
                  </a:cubicBezTo>
                  <a:lnTo>
                    <a:pt x="16371063" y="1358011"/>
                  </a:lnTo>
                  <a:cubicBezTo>
                    <a:pt x="16371063" y="1367409"/>
                    <a:pt x="16363443" y="1374902"/>
                    <a:pt x="16354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54171" y="1341120"/>
                  </a:lnTo>
                  <a:lnTo>
                    <a:pt x="16354171" y="1358011"/>
                  </a:lnTo>
                  <a:lnTo>
                    <a:pt x="16337280" y="1358011"/>
                  </a:lnTo>
                  <a:lnTo>
                    <a:pt x="16337280" y="16891"/>
                  </a:lnTo>
                  <a:lnTo>
                    <a:pt x="16354171" y="16891"/>
                  </a:lnTo>
                  <a:lnTo>
                    <a:pt x="1635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01703" y="7796279"/>
            <a:ext cx="720347" cy="720347"/>
            <a:chOff x="0" y="0"/>
            <a:chExt cx="960463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7808976"/>
            <a:ext cx="694944" cy="694944"/>
            <a:chOff x="0" y="0"/>
            <a:chExt cx="926592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926592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28800" y="7754112"/>
            <a:ext cx="10789920" cy="768096"/>
            <a:chOff x="0" y="0"/>
            <a:chExt cx="1438656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3865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18" r="0" b="-22371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386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AI/ML algorithms for predictive analytics and weather-based optimization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8802119"/>
            <a:ext cx="12278363" cy="1031243"/>
            <a:chOff x="0" y="0"/>
            <a:chExt cx="1637115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371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6371063">
                  <a:moveTo>
                    <a:pt x="16891" y="0"/>
                  </a:moveTo>
                  <a:lnTo>
                    <a:pt x="16354171" y="0"/>
                  </a:lnTo>
                  <a:cubicBezTo>
                    <a:pt x="16363569" y="0"/>
                    <a:pt x="16371063" y="7620"/>
                    <a:pt x="16371063" y="16891"/>
                  </a:cubicBezTo>
                  <a:lnTo>
                    <a:pt x="16371063" y="1358011"/>
                  </a:lnTo>
                  <a:cubicBezTo>
                    <a:pt x="16371063" y="1367409"/>
                    <a:pt x="16363443" y="1374902"/>
                    <a:pt x="16354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54171" y="1341120"/>
                  </a:lnTo>
                  <a:lnTo>
                    <a:pt x="16354171" y="1358011"/>
                  </a:lnTo>
                  <a:lnTo>
                    <a:pt x="16337280" y="1358011"/>
                  </a:lnTo>
                  <a:lnTo>
                    <a:pt x="16337280" y="16891"/>
                  </a:lnTo>
                  <a:lnTo>
                    <a:pt x="16354171" y="16891"/>
                  </a:lnTo>
                  <a:lnTo>
                    <a:pt x="1635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01703" y="8948423"/>
            <a:ext cx="720347" cy="720347"/>
            <a:chOff x="0" y="0"/>
            <a:chExt cx="960463" cy="9604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8961120"/>
            <a:ext cx="694944" cy="694944"/>
            <a:chOff x="0" y="0"/>
            <a:chExt cx="926592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26592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828800" y="8906256"/>
            <a:ext cx="10789920" cy="768096"/>
            <a:chOff x="0" y="0"/>
            <a:chExt cx="14386560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865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18" r="0" b="-22371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4386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working hardware prototype and validate in simulation environments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081760" y="1463040"/>
            <a:ext cx="3840480" cy="1645920"/>
            <a:chOff x="0" y="0"/>
            <a:chExt cx="512064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512064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PRIMARY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GOAL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990320" y="3383280"/>
            <a:ext cx="4023360" cy="5852160"/>
            <a:chOff x="0" y="0"/>
            <a:chExt cx="5364480" cy="78028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644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364480" cy="784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region-specific, AI-guided atmospheric water harvesting systems for sustainable water management.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12064"/>
            <a:ext cx="16459200" cy="822960"/>
            <a:chOff x="0" y="0"/>
            <a:chExt cx="219456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 — IMPLEMENTATION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7383" y="2090423"/>
            <a:ext cx="3957323" cy="2366267"/>
            <a:chOff x="0" y="0"/>
            <a:chExt cx="5276431" cy="3155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6839" y="2346455"/>
            <a:ext cx="903227" cy="903227"/>
            <a:chOff x="0" y="0"/>
            <a:chExt cx="1204303" cy="12043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9536" y="2359152"/>
            <a:ext cx="877824" cy="877824"/>
            <a:chOff x="0" y="0"/>
            <a:chExt cx="1170432" cy="11704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83664" y="2322576"/>
            <a:ext cx="2523744" cy="640080"/>
            <a:chOff x="0" y="0"/>
            <a:chExt cx="3364992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DHT11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83664" y="2980944"/>
            <a:ext cx="2523744" cy="548640"/>
            <a:chOff x="0" y="0"/>
            <a:chExt cx="3364992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7383" y="4211831"/>
            <a:ext cx="3957323" cy="244859"/>
            <a:chOff x="0" y="0"/>
            <a:chExt cx="5276431" cy="3264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C7293">
                <a:alpha val="48627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25063" y="2090423"/>
            <a:ext cx="3957323" cy="2366267"/>
            <a:chOff x="0" y="0"/>
            <a:chExt cx="5276431" cy="3155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144519" y="2346455"/>
            <a:ext cx="903227" cy="903227"/>
            <a:chOff x="0" y="0"/>
            <a:chExt cx="1204303" cy="12043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157216" y="2359152"/>
            <a:ext cx="877824" cy="877824"/>
            <a:chOff x="0" y="0"/>
            <a:chExt cx="1170432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81344" y="2322576"/>
            <a:ext cx="2523744" cy="640080"/>
            <a:chOff x="0" y="0"/>
            <a:chExt cx="3364992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YL-69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181344" y="2980944"/>
            <a:ext cx="2523744" cy="548640"/>
            <a:chOff x="0" y="0"/>
            <a:chExt cx="3364992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Soil Moisture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25063" y="4211831"/>
            <a:ext cx="3957323" cy="244859"/>
            <a:chOff x="0" y="0"/>
            <a:chExt cx="5276431" cy="3264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28090">
                <a:alpha val="4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22743" y="2090423"/>
            <a:ext cx="3957323" cy="2366267"/>
            <a:chOff x="0" y="0"/>
            <a:chExt cx="5276431" cy="31550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42199" y="2346455"/>
            <a:ext cx="903227" cy="903227"/>
            <a:chOff x="0" y="0"/>
            <a:chExt cx="1204303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454896" y="2359152"/>
            <a:ext cx="877824" cy="877824"/>
            <a:chOff x="0" y="0"/>
            <a:chExt cx="1170432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79024" y="2322576"/>
            <a:ext cx="2523744" cy="640080"/>
            <a:chOff x="0" y="0"/>
            <a:chExt cx="3364992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FC-37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79024" y="2980944"/>
            <a:ext cx="2523744" cy="548640"/>
            <a:chOff x="0" y="0"/>
            <a:chExt cx="3364992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 Detection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22743" y="4211831"/>
            <a:ext cx="3957323" cy="244859"/>
            <a:chOff x="0" y="0"/>
            <a:chExt cx="5276431" cy="3264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65A82">
                <a:alpha val="48627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520423" y="2090423"/>
            <a:ext cx="3957323" cy="2366267"/>
            <a:chOff x="0" y="0"/>
            <a:chExt cx="5276431" cy="31550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39879" y="2346455"/>
            <a:ext cx="903227" cy="903227"/>
            <a:chOff x="0" y="0"/>
            <a:chExt cx="1204303" cy="12043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52576" y="2359152"/>
            <a:ext cx="877824" cy="877824"/>
            <a:chOff x="0" y="0"/>
            <a:chExt cx="1170432" cy="117043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76704" y="2322576"/>
            <a:ext cx="2523744" cy="640080"/>
            <a:chOff x="0" y="0"/>
            <a:chExt cx="3364992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HC-SR04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776704" y="2980944"/>
            <a:ext cx="2523744" cy="548640"/>
            <a:chOff x="0" y="0"/>
            <a:chExt cx="3364992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Level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520423" y="4211831"/>
            <a:ext cx="3957323" cy="244859"/>
            <a:chOff x="0" y="0"/>
            <a:chExt cx="5276431" cy="3264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D3D4F">
                <a:alpha val="48627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27383" y="4742183"/>
            <a:ext cx="3957323" cy="2366267"/>
            <a:chOff x="0" y="0"/>
            <a:chExt cx="5276431" cy="31550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46839" y="4998215"/>
            <a:ext cx="903227" cy="903227"/>
            <a:chOff x="0" y="0"/>
            <a:chExt cx="1204303" cy="12043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59536" y="5010912"/>
            <a:ext cx="877824" cy="877824"/>
            <a:chOff x="0" y="0"/>
            <a:chExt cx="1170432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883664" y="4974336"/>
            <a:ext cx="2523744" cy="640080"/>
            <a:chOff x="0" y="0"/>
            <a:chExt cx="3364992" cy="8534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LM35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883664" y="5632704"/>
            <a:ext cx="2523744" cy="548640"/>
            <a:chOff x="0" y="0"/>
            <a:chExt cx="3364992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27383" y="6863591"/>
            <a:ext cx="3957323" cy="244859"/>
            <a:chOff x="0" y="0"/>
            <a:chExt cx="5276431" cy="3264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8A84B">
                <a:alpha val="48627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925063" y="4742183"/>
            <a:ext cx="3957323" cy="2366267"/>
            <a:chOff x="0" y="0"/>
            <a:chExt cx="5276431" cy="315502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44519" y="4998215"/>
            <a:ext cx="903227" cy="903227"/>
            <a:chOff x="0" y="0"/>
            <a:chExt cx="1204303" cy="120430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B8862A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157216" y="5010912"/>
            <a:ext cx="877824" cy="877824"/>
            <a:chOff x="0" y="0"/>
            <a:chExt cx="1170432" cy="11704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181344" y="4974336"/>
            <a:ext cx="2523744" cy="640080"/>
            <a:chOff x="0" y="0"/>
            <a:chExt cx="3364992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TDS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181344" y="5632704"/>
            <a:ext cx="2523744" cy="548640"/>
            <a:chOff x="0" y="0"/>
            <a:chExt cx="3364992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Purity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925063" y="6863591"/>
            <a:ext cx="3957323" cy="244859"/>
            <a:chOff x="0" y="0"/>
            <a:chExt cx="5276431" cy="32647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B8862A">
                <a:alpha val="48627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222743" y="4742183"/>
            <a:ext cx="3957323" cy="2366267"/>
            <a:chOff x="0" y="0"/>
            <a:chExt cx="5276431" cy="31550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442199" y="4998215"/>
            <a:ext cx="903227" cy="903227"/>
            <a:chOff x="0" y="0"/>
            <a:chExt cx="1204303" cy="120430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54896" y="5010912"/>
            <a:ext cx="877824" cy="877824"/>
            <a:chOff x="0" y="0"/>
            <a:chExt cx="1170432" cy="117043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479024" y="4974336"/>
            <a:ext cx="2523744" cy="640080"/>
            <a:chOff x="0" y="0"/>
            <a:chExt cx="3364992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Turbidity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479024" y="5632704"/>
            <a:ext cx="2523744" cy="548640"/>
            <a:chOff x="0" y="0"/>
            <a:chExt cx="3364992" cy="7315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Clarity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222743" y="6863591"/>
            <a:ext cx="3957323" cy="244859"/>
            <a:chOff x="0" y="0"/>
            <a:chExt cx="5276431" cy="32647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C7293">
                <a:alpha val="48627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520423" y="4742183"/>
            <a:ext cx="3957323" cy="2366267"/>
            <a:chOff x="0" y="0"/>
            <a:chExt cx="5276431" cy="31550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242560" cy="3121152"/>
            </a:xfrm>
            <a:custGeom>
              <a:avLst/>
              <a:gdLst/>
              <a:ahLst/>
              <a:cxnLst/>
              <a:rect r="r" b="b" t="t" l="l"/>
              <a:pathLst>
                <a:path h="31211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76342" cy="3154934"/>
            </a:xfrm>
            <a:custGeom>
              <a:avLst/>
              <a:gdLst/>
              <a:ahLst/>
              <a:cxnLst/>
              <a:rect r="r" b="b" t="t" l="l"/>
              <a:pathLst>
                <a:path h="3154934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138043"/>
                  </a:lnTo>
                  <a:cubicBezTo>
                    <a:pt x="5276342" y="3147441"/>
                    <a:pt x="5268722" y="3154934"/>
                    <a:pt x="525945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5259451" y="3121152"/>
                  </a:lnTo>
                  <a:lnTo>
                    <a:pt x="5259451" y="3138043"/>
                  </a:lnTo>
                  <a:lnTo>
                    <a:pt x="5242560" y="3138043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3739879" y="4998215"/>
            <a:ext cx="903227" cy="903227"/>
            <a:chOff x="0" y="0"/>
            <a:chExt cx="1204303" cy="120430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752576" y="5010912"/>
            <a:ext cx="877824" cy="877824"/>
            <a:chOff x="0" y="0"/>
            <a:chExt cx="1170432" cy="117043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1170432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WF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776704" y="4974336"/>
            <a:ext cx="2523744" cy="640080"/>
            <a:chOff x="0" y="0"/>
            <a:chExt cx="3364992" cy="853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364992" cy="853440"/>
            </a:xfrm>
            <a:custGeom>
              <a:avLst/>
              <a:gdLst/>
              <a:ahLst/>
              <a:cxnLst/>
              <a:rect r="r" b="b" t="t" l="l"/>
              <a:pathLst>
                <a:path h="8534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6" r="0" b="-2682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33649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3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YF-S201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776704" y="5632704"/>
            <a:ext cx="2523744" cy="548640"/>
            <a:chOff x="0" y="0"/>
            <a:chExt cx="3364992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 Flow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520423" y="6863591"/>
            <a:ext cx="3957323" cy="244859"/>
            <a:chOff x="0" y="0"/>
            <a:chExt cx="5276431" cy="32647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5242560" cy="292608"/>
            </a:xfrm>
            <a:custGeom>
              <a:avLst/>
              <a:gdLst/>
              <a:ahLst/>
              <a:cxnLst/>
              <a:rect r="r" b="b" t="t" l="l"/>
              <a:pathLst>
                <a:path h="29260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28090">
                <a:alpha val="48627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276342" cy="326392"/>
            </a:xfrm>
            <a:custGeom>
              <a:avLst/>
              <a:gdLst/>
              <a:ahLst/>
              <a:cxnLst/>
              <a:rect r="r" b="b" t="t" l="l"/>
              <a:pathLst>
                <a:path h="32639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309499"/>
                  </a:lnTo>
                  <a:cubicBezTo>
                    <a:pt x="5276342" y="318897"/>
                    <a:pt x="5268722" y="326390"/>
                    <a:pt x="525945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259451" y="292608"/>
                  </a:lnTo>
                  <a:lnTo>
                    <a:pt x="5259451" y="309499"/>
                  </a:lnTo>
                  <a:lnTo>
                    <a:pt x="5242560" y="30949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627383" y="7485383"/>
            <a:ext cx="17033243" cy="2402843"/>
            <a:chOff x="0" y="0"/>
            <a:chExt cx="22710991" cy="320379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22677119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D3D4F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71090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186811"/>
                  </a:lnTo>
                  <a:cubicBezTo>
                    <a:pt x="22710902" y="3196209"/>
                    <a:pt x="22703282" y="3203702"/>
                    <a:pt x="2269401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2694010" y="3169920"/>
                  </a:lnTo>
                  <a:lnTo>
                    <a:pt x="22694010" y="3186811"/>
                  </a:lnTo>
                  <a:lnTo>
                    <a:pt x="22677120" y="31868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93143" y="7723127"/>
            <a:ext cx="3591563" cy="1762763"/>
            <a:chOff x="0" y="0"/>
            <a:chExt cx="4788751" cy="235035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7886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4788662">
                  <a:moveTo>
                    <a:pt x="16891" y="0"/>
                  </a:moveTo>
                  <a:lnTo>
                    <a:pt x="4771771" y="0"/>
                  </a:lnTo>
                  <a:cubicBezTo>
                    <a:pt x="4781169" y="0"/>
                    <a:pt x="4788662" y="7620"/>
                    <a:pt x="4788662" y="16891"/>
                  </a:cubicBezTo>
                  <a:lnTo>
                    <a:pt x="4788662" y="2333371"/>
                  </a:lnTo>
                  <a:cubicBezTo>
                    <a:pt x="4788662" y="2342769"/>
                    <a:pt x="4781042" y="2350262"/>
                    <a:pt x="47717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771771" y="2316480"/>
                  </a:lnTo>
                  <a:lnTo>
                    <a:pt x="4771771" y="2333371"/>
                  </a:lnTo>
                  <a:lnTo>
                    <a:pt x="4754880" y="2333371"/>
                  </a:lnTo>
                  <a:lnTo>
                    <a:pt x="4754880" y="16891"/>
                  </a:lnTo>
                  <a:lnTo>
                    <a:pt x="4771771" y="16891"/>
                  </a:lnTo>
                  <a:lnTo>
                    <a:pt x="4771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005840" y="7735824"/>
            <a:ext cx="3566160" cy="1737360"/>
            <a:chOff x="0" y="0"/>
            <a:chExt cx="4754880" cy="23164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06" t="0" r="-12506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75488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Sensors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700016" y="8229600"/>
            <a:ext cx="585216" cy="768096"/>
            <a:chOff x="0" y="0"/>
            <a:chExt cx="780288" cy="102412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7802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57150"/>
              <a:ext cx="78028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8A8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-&gt;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5199383" y="7723127"/>
            <a:ext cx="3591563" cy="1762763"/>
            <a:chOff x="0" y="0"/>
            <a:chExt cx="4788751" cy="235035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7886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4788662">
                  <a:moveTo>
                    <a:pt x="16891" y="0"/>
                  </a:moveTo>
                  <a:lnTo>
                    <a:pt x="4771771" y="0"/>
                  </a:lnTo>
                  <a:cubicBezTo>
                    <a:pt x="4781169" y="0"/>
                    <a:pt x="4788662" y="7620"/>
                    <a:pt x="4788662" y="16891"/>
                  </a:cubicBezTo>
                  <a:lnTo>
                    <a:pt x="4788662" y="2333371"/>
                  </a:lnTo>
                  <a:cubicBezTo>
                    <a:pt x="4788662" y="2342769"/>
                    <a:pt x="4781042" y="2350262"/>
                    <a:pt x="47717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771771" y="2316480"/>
                  </a:lnTo>
                  <a:lnTo>
                    <a:pt x="4771771" y="2333371"/>
                  </a:lnTo>
                  <a:lnTo>
                    <a:pt x="4754880" y="2333371"/>
                  </a:lnTo>
                  <a:lnTo>
                    <a:pt x="4754880" y="16891"/>
                  </a:lnTo>
                  <a:lnTo>
                    <a:pt x="4771771" y="16891"/>
                  </a:lnTo>
                  <a:lnTo>
                    <a:pt x="4771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5212080" y="7735824"/>
            <a:ext cx="3566160" cy="1737360"/>
            <a:chOff x="0" y="0"/>
            <a:chExt cx="4754880" cy="23164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06" t="0" r="-12506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475488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Arduino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8906256" y="8229600"/>
            <a:ext cx="585216" cy="768096"/>
            <a:chOff x="0" y="0"/>
            <a:chExt cx="780288" cy="102412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7802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57150"/>
              <a:ext cx="78028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8A8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-&gt;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405623" y="7723127"/>
            <a:ext cx="3591563" cy="1762763"/>
            <a:chOff x="0" y="0"/>
            <a:chExt cx="4788751" cy="2350351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7886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4788662">
                  <a:moveTo>
                    <a:pt x="16891" y="0"/>
                  </a:moveTo>
                  <a:lnTo>
                    <a:pt x="4771771" y="0"/>
                  </a:lnTo>
                  <a:cubicBezTo>
                    <a:pt x="4781169" y="0"/>
                    <a:pt x="4788662" y="7620"/>
                    <a:pt x="4788662" y="16891"/>
                  </a:cubicBezTo>
                  <a:lnTo>
                    <a:pt x="4788662" y="2333371"/>
                  </a:lnTo>
                  <a:cubicBezTo>
                    <a:pt x="4788662" y="2342769"/>
                    <a:pt x="4781042" y="2350262"/>
                    <a:pt x="47717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771771" y="2316480"/>
                  </a:lnTo>
                  <a:lnTo>
                    <a:pt x="4771771" y="2333371"/>
                  </a:lnTo>
                  <a:lnTo>
                    <a:pt x="4754880" y="2333371"/>
                  </a:lnTo>
                  <a:lnTo>
                    <a:pt x="4754880" y="16891"/>
                  </a:lnTo>
                  <a:lnTo>
                    <a:pt x="4771771" y="16891"/>
                  </a:lnTo>
                  <a:lnTo>
                    <a:pt x="4771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418320" y="7735824"/>
            <a:ext cx="3566160" cy="1737360"/>
            <a:chOff x="0" y="0"/>
            <a:chExt cx="4754880" cy="231648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06" t="0" r="-12506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75488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Rule-Based AI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112496" y="8229600"/>
            <a:ext cx="585216" cy="768096"/>
            <a:chOff x="0" y="0"/>
            <a:chExt cx="780288" cy="102412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7802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398" t="0" r="-118398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57150"/>
              <a:ext cx="78028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8A8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-&gt;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3611863" y="7723127"/>
            <a:ext cx="3591563" cy="1762763"/>
            <a:chOff x="0" y="0"/>
            <a:chExt cx="4788751" cy="235035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4788662" cy="2350262"/>
            </a:xfrm>
            <a:custGeom>
              <a:avLst/>
              <a:gdLst/>
              <a:ahLst/>
              <a:cxnLst/>
              <a:rect r="r" b="b" t="t" l="l"/>
              <a:pathLst>
                <a:path h="2350262" w="4788662">
                  <a:moveTo>
                    <a:pt x="16891" y="0"/>
                  </a:moveTo>
                  <a:lnTo>
                    <a:pt x="4771771" y="0"/>
                  </a:lnTo>
                  <a:cubicBezTo>
                    <a:pt x="4781169" y="0"/>
                    <a:pt x="4788662" y="7620"/>
                    <a:pt x="4788662" y="16891"/>
                  </a:cubicBezTo>
                  <a:lnTo>
                    <a:pt x="4788662" y="2333371"/>
                  </a:lnTo>
                  <a:cubicBezTo>
                    <a:pt x="4788662" y="2342769"/>
                    <a:pt x="4781042" y="2350262"/>
                    <a:pt x="4771771" y="2350262"/>
                  </a:cubicBezTo>
                  <a:lnTo>
                    <a:pt x="16891" y="2350262"/>
                  </a:lnTo>
                  <a:cubicBezTo>
                    <a:pt x="7493" y="2350262"/>
                    <a:pt x="0" y="2342642"/>
                    <a:pt x="0" y="2333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33371"/>
                  </a:lnTo>
                  <a:lnTo>
                    <a:pt x="16891" y="2333371"/>
                  </a:lnTo>
                  <a:lnTo>
                    <a:pt x="16891" y="2316480"/>
                  </a:lnTo>
                  <a:lnTo>
                    <a:pt x="4771771" y="2316480"/>
                  </a:lnTo>
                  <a:lnTo>
                    <a:pt x="4771771" y="2333371"/>
                  </a:lnTo>
                  <a:lnTo>
                    <a:pt x="4754880" y="2333371"/>
                  </a:lnTo>
                  <a:lnTo>
                    <a:pt x="4754880" y="16891"/>
                  </a:lnTo>
                  <a:lnTo>
                    <a:pt x="4771771" y="16891"/>
                  </a:lnTo>
                  <a:lnTo>
                    <a:pt x="4771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3624560" y="7735824"/>
            <a:ext cx="3566160" cy="1737360"/>
            <a:chOff x="0" y="0"/>
            <a:chExt cx="4754880" cy="231648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7548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06" t="0" r="-12506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475488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 / Alert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5A82">
                <a:alpha val="39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3D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EXPECTED OUTCOMES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36743" y="1724663"/>
            <a:ext cx="4414523" cy="153419"/>
            <a:chOff x="0" y="0"/>
            <a:chExt cx="5886031" cy="20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852160" cy="170688"/>
            </a:xfrm>
            <a:custGeom>
              <a:avLst/>
              <a:gdLst/>
              <a:ahLst/>
              <a:cxnLst/>
              <a:rect r="r" b="b" t="t" l="l"/>
              <a:pathLst>
                <a:path h="17068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85942" cy="204472"/>
            </a:xfrm>
            <a:custGeom>
              <a:avLst/>
              <a:gdLst/>
              <a:ahLst/>
              <a:cxnLst/>
              <a:rect r="r" b="b" t="t" l="l"/>
              <a:pathLst>
                <a:path h="20447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87579"/>
                  </a:lnTo>
                  <a:cubicBezTo>
                    <a:pt x="5885942" y="196977"/>
                    <a:pt x="5878322" y="204470"/>
                    <a:pt x="58690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5869051" y="170688"/>
                  </a:lnTo>
                  <a:lnTo>
                    <a:pt x="5869051" y="187579"/>
                  </a:lnTo>
                  <a:lnTo>
                    <a:pt x="5852160" y="187579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2181863"/>
            <a:ext cx="5420363" cy="3225803"/>
            <a:chOff x="0" y="0"/>
            <a:chExt cx="7227151" cy="4301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6839" y="2401319"/>
            <a:ext cx="1031243" cy="1031243"/>
            <a:chOff x="0" y="0"/>
            <a:chExt cx="137499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9536" y="2414016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66544" y="2377440"/>
            <a:ext cx="3749040" cy="1097280"/>
            <a:chOff x="0" y="0"/>
            <a:chExt cx="499872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10-20%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536" y="3694176"/>
            <a:ext cx="4974336" cy="1499616"/>
            <a:chOff x="0" y="0"/>
            <a:chExt cx="6632448" cy="1999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Reduction in water wastage through real-time decision-making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8103" y="2181863"/>
            <a:ext cx="5420363" cy="3225803"/>
            <a:chOff x="0" y="0"/>
            <a:chExt cx="7227151" cy="4301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07559" y="2401319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20256" y="2414016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27264" y="2377440"/>
            <a:ext cx="3749040" cy="1097280"/>
            <a:chOff x="0" y="0"/>
            <a:chExt cx="49987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20256" y="3694176"/>
            <a:ext cx="4974336" cy="1499616"/>
            <a:chOff x="0" y="0"/>
            <a:chExt cx="6632448" cy="1999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Powered recommendations for region-specific water harvesting methods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148823" y="2181863"/>
            <a:ext cx="5420363" cy="3225803"/>
            <a:chOff x="0" y="0"/>
            <a:chExt cx="7227151" cy="4301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68279" y="2401319"/>
            <a:ext cx="1031243" cy="1031243"/>
            <a:chOff x="0" y="0"/>
            <a:chExt cx="1374991" cy="13749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80976" y="2414016"/>
            <a:ext cx="1005840" cy="1005840"/>
            <a:chOff x="0" y="0"/>
            <a:chExt cx="134112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87984" y="2377440"/>
            <a:ext cx="3749040" cy="1097280"/>
            <a:chOff x="0" y="0"/>
            <a:chExt cx="499872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C729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IoT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80976" y="3694176"/>
            <a:ext cx="4974336" cy="1499616"/>
            <a:chOff x="0" y="0"/>
            <a:chExt cx="6632448" cy="19994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 sensors enabling smart, continuous environmental monitoring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7383" y="5839463"/>
            <a:ext cx="5420363" cy="3225803"/>
            <a:chOff x="0" y="0"/>
            <a:chExt cx="7227151" cy="43010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46839" y="6058919"/>
            <a:ext cx="1031243" cy="1031243"/>
            <a:chOff x="0" y="0"/>
            <a:chExt cx="137499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59536" y="6071616"/>
            <a:ext cx="1005840" cy="1005840"/>
            <a:chOff x="0" y="0"/>
            <a:chExt cx="134112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066544" y="6035040"/>
            <a:ext cx="3749040" cy="1097280"/>
            <a:chOff x="0" y="0"/>
            <a:chExt cx="499872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59536" y="7351776"/>
            <a:ext cx="4974336" cy="1499616"/>
            <a:chOff x="0" y="0"/>
            <a:chExt cx="6632448" cy="1999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Foundation for future ML/AI predictive algorithms for weather &amp; water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388103" y="5839463"/>
            <a:ext cx="5420363" cy="3225803"/>
            <a:chOff x="0" y="0"/>
            <a:chExt cx="7227151" cy="43010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607559" y="6058919"/>
            <a:ext cx="1031243" cy="1031243"/>
            <a:chOff x="0" y="0"/>
            <a:chExt cx="1374991" cy="13749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620256" y="6071616"/>
            <a:ext cx="1005840" cy="1005840"/>
            <a:chOff x="0" y="0"/>
            <a:chExt cx="1341120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827264" y="6035040"/>
            <a:ext cx="3749040" cy="1097280"/>
            <a:chOff x="0" y="0"/>
            <a:chExt cx="499872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65A8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Scale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620256" y="7351776"/>
            <a:ext cx="4974336" cy="1499616"/>
            <a:chOff x="0" y="0"/>
            <a:chExt cx="6632448" cy="19994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Applicable in farming, home gardening &amp; institutional settings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148823" y="5839463"/>
            <a:ext cx="5420363" cy="3225803"/>
            <a:chOff x="0" y="0"/>
            <a:chExt cx="7227151" cy="43010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193281" cy="4267200"/>
            </a:xfrm>
            <a:custGeom>
              <a:avLst/>
              <a:gdLst/>
              <a:ahLst/>
              <a:cxnLst/>
              <a:rect r="r" b="b" t="t" l="l"/>
              <a:pathLst>
                <a:path h="426720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EDF4F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270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284091"/>
                  </a:lnTo>
                  <a:cubicBezTo>
                    <a:pt x="7227062" y="4293489"/>
                    <a:pt x="7219442" y="4300982"/>
                    <a:pt x="7210172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7210172" y="4267200"/>
                  </a:lnTo>
                  <a:lnTo>
                    <a:pt x="7210172" y="4284091"/>
                  </a:lnTo>
                  <a:lnTo>
                    <a:pt x="7193280" y="428409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368279" y="6058919"/>
            <a:ext cx="1031243" cy="1031243"/>
            <a:chOff x="0" y="0"/>
            <a:chExt cx="1374991" cy="13749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380976" y="6071616"/>
            <a:ext cx="1005840" cy="1005840"/>
            <a:chOff x="0" y="0"/>
            <a:chExt cx="1341120" cy="13411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34112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587984" y="6035040"/>
            <a:ext cx="3749040" cy="1097280"/>
            <a:chOff x="0" y="0"/>
            <a:chExt cx="4998720" cy="14630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998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" r="0" b="-1657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4998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Aware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380976" y="7351776"/>
            <a:ext cx="4974336" cy="1499616"/>
            <a:chOff x="0" y="0"/>
            <a:chExt cx="6632448" cy="19994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32448" cy="1999488"/>
            </a:xfrm>
            <a:custGeom>
              <a:avLst/>
              <a:gdLst/>
              <a:ahLst/>
              <a:cxnLst/>
              <a:rect r="r" b="b" t="t" l="l"/>
              <a:pathLst>
                <a:path h="199948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33" r="0" b="-1463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632448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Increased community awareness of alternative water harvesting methods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983463" y="-12697"/>
            <a:ext cx="3317243" cy="10312403"/>
            <a:chOff x="0" y="0"/>
            <a:chExt cx="442299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2E3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229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3732890"/>
                  </a:lnTo>
                  <a:cubicBezTo>
                    <a:pt x="4422902" y="13742290"/>
                    <a:pt x="4415282" y="13749782"/>
                    <a:pt x="44060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406011" y="13716000"/>
                  </a:lnTo>
                  <a:lnTo>
                    <a:pt x="4406011" y="13732890"/>
                  </a:lnTo>
                  <a:lnTo>
                    <a:pt x="4389120" y="13732890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8823" y="718823"/>
            <a:ext cx="135131" cy="135131"/>
            <a:chOff x="0" y="0"/>
            <a:chExt cx="180175" cy="180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551159" y="718823"/>
            <a:ext cx="135131" cy="135131"/>
            <a:chOff x="0" y="0"/>
            <a:chExt cx="180175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53495" y="718823"/>
            <a:ext cx="135131" cy="135131"/>
            <a:chOff x="0" y="0"/>
            <a:chExt cx="180175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55831" y="718823"/>
            <a:ext cx="135131" cy="135131"/>
            <a:chOff x="0" y="0"/>
            <a:chExt cx="180175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58167" y="718823"/>
            <a:ext cx="135131" cy="135131"/>
            <a:chOff x="0" y="0"/>
            <a:chExt cx="180175" cy="180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48823" y="1121159"/>
            <a:ext cx="135131" cy="135131"/>
            <a:chOff x="0" y="0"/>
            <a:chExt cx="180175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51159" y="1121159"/>
            <a:ext cx="135131" cy="135131"/>
            <a:chOff x="0" y="0"/>
            <a:chExt cx="180175" cy="1801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953495" y="1121159"/>
            <a:ext cx="135131" cy="135131"/>
            <a:chOff x="0" y="0"/>
            <a:chExt cx="180175" cy="180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355831" y="1121159"/>
            <a:ext cx="135131" cy="135131"/>
            <a:chOff x="0" y="0"/>
            <a:chExt cx="180175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58167" y="1121159"/>
            <a:ext cx="135131" cy="135131"/>
            <a:chOff x="0" y="0"/>
            <a:chExt cx="180175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148823" y="1523495"/>
            <a:ext cx="135131" cy="135131"/>
            <a:chOff x="0" y="0"/>
            <a:chExt cx="180175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551159" y="1523495"/>
            <a:ext cx="135131" cy="135131"/>
            <a:chOff x="0" y="0"/>
            <a:chExt cx="180175" cy="180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953495" y="1523495"/>
            <a:ext cx="135131" cy="135131"/>
            <a:chOff x="0" y="0"/>
            <a:chExt cx="180175" cy="1801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355831" y="1523495"/>
            <a:ext cx="135131" cy="135131"/>
            <a:chOff x="0" y="0"/>
            <a:chExt cx="180175" cy="1801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758167" y="1523495"/>
            <a:ext cx="135131" cy="135131"/>
            <a:chOff x="0" y="0"/>
            <a:chExt cx="180175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148823" y="1925831"/>
            <a:ext cx="135131" cy="135131"/>
            <a:chOff x="0" y="0"/>
            <a:chExt cx="180175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51159" y="1925831"/>
            <a:ext cx="135131" cy="135131"/>
            <a:chOff x="0" y="0"/>
            <a:chExt cx="180175" cy="1801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953495" y="1925831"/>
            <a:ext cx="135131" cy="135131"/>
            <a:chOff x="0" y="0"/>
            <a:chExt cx="180175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355831" y="1925831"/>
            <a:ext cx="135131" cy="135131"/>
            <a:chOff x="0" y="0"/>
            <a:chExt cx="180175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758167" y="1925831"/>
            <a:ext cx="135131" cy="135131"/>
            <a:chOff x="0" y="0"/>
            <a:chExt cx="180175" cy="1801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148823" y="2328167"/>
            <a:ext cx="135131" cy="135131"/>
            <a:chOff x="0" y="0"/>
            <a:chExt cx="180175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551159" y="2328167"/>
            <a:ext cx="135131" cy="135131"/>
            <a:chOff x="0" y="0"/>
            <a:chExt cx="180175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953495" y="2328167"/>
            <a:ext cx="135131" cy="135131"/>
            <a:chOff x="0" y="0"/>
            <a:chExt cx="180175" cy="1801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355831" y="2328167"/>
            <a:ext cx="135131" cy="135131"/>
            <a:chOff x="0" y="0"/>
            <a:chExt cx="180175" cy="1801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758167" y="2328167"/>
            <a:ext cx="135131" cy="135131"/>
            <a:chOff x="0" y="0"/>
            <a:chExt cx="180175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148823" y="2730503"/>
            <a:ext cx="135131" cy="135131"/>
            <a:chOff x="0" y="0"/>
            <a:chExt cx="180175" cy="1801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551159" y="2730503"/>
            <a:ext cx="135131" cy="135131"/>
            <a:chOff x="0" y="0"/>
            <a:chExt cx="180175" cy="1801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953495" y="2730503"/>
            <a:ext cx="135131" cy="135131"/>
            <a:chOff x="0" y="0"/>
            <a:chExt cx="180175" cy="1801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355831" y="2730503"/>
            <a:ext cx="135131" cy="135131"/>
            <a:chOff x="0" y="0"/>
            <a:chExt cx="180175" cy="1801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758167" y="2730503"/>
            <a:ext cx="135131" cy="135131"/>
            <a:chOff x="0" y="0"/>
            <a:chExt cx="180175" cy="180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148823" y="3132839"/>
            <a:ext cx="135131" cy="135131"/>
            <a:chOff x="0" y="0"/>
            <a:chExt cx="180175" cy="18017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551159" y="3132839"/>
            <a:ext cx="135131" cy="135131"/>
            <a:chOff x="0" y="0"/>
            <a:chExt cx="180175" cy="18017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953495" y="3132839"/>
            <a:ext cx="135131" cy="135131"/>
            <a:chOff x="0" y="0"/>
            <a:chExt cx="180175" cy="18017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355831" y="3132839"/>
            <a:ext cx="135131" cy="135131"/>
            <a:chOff x="0" y="0"/>
            <a:chExt cx="180175" cy="1801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758167" y="3132839"/>
            <a:ext cx="135131" cy="135131"/>
            <a:chOff x="0" y="0"/>
            <a:chExt cx="180175" cy="18017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80086" cy="180086"/>
            </a:xfrm>
            <a:custGeom>
              <a:avLst/>
              <a:gdLst/>
              <a:ahLst/>
              <a:cxnLst/>
              <a:rect r="r" b="b" t="t" l="l"/>
              <a:pathLst>
                <a:path h="180086" w="180086">
                  <a:moveTo>
                    <a:pt x="0" y="90043"/>
                  </a:moveTo>
                  <a:cubicBezTo>
                    <a:pt x="0" y="40386"/>
                    <a:pt x="40386" y="0"/>
                    <a:pt x="90043" y="0"/>
                  </a:cubicBezTo>
                  <a:lnTo>
                    <a:pt x="90043" y="16891"/>
                  </a:lnTo>
                  <a:lnTo>
                    <a:pt x="90043" y="0"/>
                  </a:lnTo>
                  <a:cubicBezTo>
                    <a:pt x="139827" y="0"/>
                    <a:pt x="180086" y="40386"/>
                    <a:pt x="180086" y="90043"/>
                  </a:cubicBezTo>
                  <a:lnTo>
                    <a:pt x="163195" y="90043"/>
                  </a:lnTo>
                  <a:lnTo>
                    <a:pt x="180086" y="90043"/>
                  </a:lnTo>
                  <a:cubicBezTo>
                    <a:pt x="180086" y="139827"/>
                    <a:pt x="139700" y="180086"/>
                    <a:pt x="90043" y="180086"/>
                  </a:cubicBezTo>
                  <a:lnTo>
                    <a:pt x="90043" y="163195"/>
                  </a:lnTo>
                  <a:lnTo>
                    <a:pt x="90043" y="180086"/>
                  </a:lnTo>
                  <a:cubicBezTo>
                    <a:pt x="40386" y="180213"/>
                    <a:pt x="0" y="139827"/>
                    <a:pt x="0" y="90043"/>
                  </a:cubicBezTo>
                  <a:lnTo>
                    <a:pt x="16891" y="90043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0" y="90043"/>
                  </a:lnTo>
                  <a:moveTo>
                    <a:pt x="33909" y="90043"/>
                  </a:moveTo>
                  <a:cubicBezTo>
                    <a:pt x="33909" y="99441"/>
                    <a:pt x="26289" y="106934"/>
                    <a:pt x="17018" y="106934"/>
                  </a:cubicBezTo>
                  <a:cubicBezTo>
                    <a:pt x="7747" y="106934"/>
                    <a:pt x="0" y="99441"/>
                    <a:pt x="0" y="90043"/>
                  </a:cubicBezTo>
                  <a:cubicBezTo>
                    <a:pt x="0" y="80645"/>
                    <a:pt x="7620" y="73152"/>
                    <a:pt x="16891" y="73152"/>
                  </a:cubicBezTo>
                  <a:cubicBezTo>
                    <a:pt x="26162" y="73152"/>
                    <a:pt x="33782" y="80772"/>
                    <a:pt x="33782" y="90043"/>
                  </a:cubicBezTo>
                  <a:cubicBezTo>
                    <a:pt x="33782" y="121031"/>
                    <a:pt x="58928" y="146304"/>
                    <a:pt x="90043" y="146304"/>
                  </a:cubicBezTo>
                  <a:cubicBezTo>
                    <a:pt x="121031" y="146304"/>
                    <a:pt x="146304" y="121158"/>
                    <a:pt x="146304" y="90043"/>
                  </a:cubicBezTo>
                  <a:cubicBezTo>
                    <a:pt x="146304" y="59055"/>
                    <a:pt x="121158" y="33782"/>
                    <a:pt x="90043" y="33782"/>
                  </a:cubicBezTo>
                  <a:lnTo>
                    <a:pt x="90043" y="16891"/>
                  </a:lnTo>
                  <a:lnTo>
                    <a:pt x="90043" y="33909"/>
                  </a:lnTo>
                  <a:cubicBezTo>
                    <a:pt x="59055" y="33909"/>
                    <a:pt x="33782" y="59055"/>
                    <a:pt x="33782" y="9017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4400" y="822960"/>
            <a:ext cx="10424160" cy="1005840"/>
            <a:chOff x="0" y="0"/>
            <a:chExt cx="13898880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3898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1389888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C8A8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14400" y="2103120"/>
            <a:ext cx="10424160" cy="1188720"/>
            <a:chOff x="0" y="0"/>
            <a:chExt cx="13898880" cy="1584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3898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68" r="0" b="-12086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1389888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FFFFF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Bridging the gap between environmental potential and effective water solutions.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01703" y="3462023"/>
            <a:ext cx="1031243" cy="135131"/>
            <a:chOff x="0" y="0"/>
            <a:chExt cx="1374991" cy="18017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341120" cy="146304"/>
            </a:xfrm>
            <a:custGeom>
              <a:avLst/>
              <a:gdLst/>
              <a:ahLst/>
              <a:cxnLst/>
              <a:rect r="r" b="b" t="t" l="l"/>
              <a:pathLst>
                <a:path h="14630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374902" cy="180088"/>
            </a:xfrm>
            <a:custGeom>
              <a:avLst/>
              <a:gdLst/>
              <a:ahLst/>
              <a:cxnLst/>
              <a:rect r="r" b="b" t="t" l="l"/>
              <a:pathLst>
                <a:path h="180088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63195"/>
                  </a:lnTo>
                  <a:cubicBezTo>
                    <a:pt x="1374902" y="172593"/>
                    <a:pt x="1367282" y="180086"/>
                    <a:pt x="13580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358011" y="146304"/>
                  </a:lnTo>
                  <a:lnTo>
                    <a:pt x="1358011" y="163195"/>
                  </a:lnTo>
                  <a:lnTo>
                    <a:pt x="1341120" y="163195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01703" y="3919223"/>
            <a:ext cx="427739" cy="427739"/>
            <a:chOff x="0" y="0"/>
            <a:chExt cx="570319" cy="57031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54480" y="3877056"/>
            <a:ext cx="9692640" cy="731520"/>
            <a:chOff x="0" y="0"/>
            <a:chExt cx="12923520" cy="9753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2923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Surveys revealed a clear awareness-implementation gap in water management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01703" y="5053079"/>
            <a:ext cx="427739" cy="427739"/>
            <a:chOff x="0" y="0"/>
            <a:chExt cx="570319" cy="57031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554480" y="5010912"/>
            <a:ext cx="9692640" cy="731520"/>
            <a:chOff x="0" y="0"/>
            <a:chExt cx="12923520" cy="9753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2923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Fog &amp; dew harvesting is feasible but requires smart, sensor-based systems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01703" y="6186935"/>
            <a:ext cx="427739" cy="427739"/>
            <a:chOff x="0" y="0"/>
            <a:chExt cx="570319" cy="57031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554480" y="6144768"/>
            <a:ext cx="9692640" cy="731520"/>
            <a:chOff x="0" y="0"/>
            <a:chExt cx="12923520" cy="97536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2923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AI-guided, region-specific approaches outperform one-size-fits-all methods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01703" y="7320791"/>
            <a:ext cx="427739" cy="427739"/>
            <a:chOff x="0" y="0"/>
            <a:chExt cx="570319" cy="57031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554480" y="7278624"/>
            <a:ext cx="9692640" cy="731520"/>
            <a:chOff x="0" y="0"/>
            <a:chExt cx="12923520" cy="97536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2923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Collaboration between government, researchers &amp; communities is essential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01703" y="8454647"/>
            <a:ext cx="427739" cy="427739"/>
            <a:chOff x="0" y="0"/>
            <a:chExt cx="570319" cy="57031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8A84B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554480" y="8412480"/>
            <a:ext cx="9692640" cy="731520"/>
            <a:chOff x="0" y="0"/>
            <a:chExt cx="12923520" cy="9753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12923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BB5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tech + traditional methods + affordable access = Sustainable water future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14400" y="9656064"/>
            <a:ext cx="10424160" cy="402336"/>
            <a:chOff x="0" y="0"/>
            <a:chExt cx="13898880" cy="5364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898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839" r="0" b="-454839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3898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6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HS-202  |  Human Geography and Social Needs  |  Group 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D3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DAHH9UAYkCw</dc:identifier>
  <dcterms:modified xsi:type="dcterms:W3CDTF">2011-08-01T06:04:30Z</dcterms:modified>
  <cp:revision>1</cp:revision>
  <dc:title>Sustainable_Water_Management.pptx</dc:title>
</cp:coreProperties>
</file>